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78" r:id="rId3"/>
    <p:sldId id="277" r:id="rId5"/>
    <p:sldId id="258" r:id="rId6"/>
    <p:sldId id="279" r:id="rId7"/>
    <p:sldId id="280" r:id="rId8"/>
    <p:sldId id="259" r:id="rId9"/>
    <p:sldId id="283" r:id="rId10"/>
    <p:sldId id="284" r:id="rId11"/>
    <p:sldId id="285" r:id="rId12"/>
    <p:sldId id="286" r:id="rId13"/>
    <p:sldId id="287" r:id="rId14"/>
    <p:sldId id="288" r:id="rId15"/>
    <p:sldId id="289" r:id="rId16"/>
    <p:sldId id="290" r:id="rId17"/>
    <p:sldId id="261" r:id="rId18"/>
    <p:sldId id="260" r:id="rId19"/>
    <p:sldId id="262" r:id="rId20"/>
    <p:sldId id="263" r:id="rId21"/>
    <p:sldId id="264" r:id="rId22"/>
    <p:sldId id="265" r:id="rId23"/>
    <p:sldId id="266" r:id="rId24"/>
    <p:sldId id="267" r:id="rId25"/>
    <p:sldId id="268" r:id="rId26"/>
    <p:sldId id="269" r:id="rId27"/>
    <p:sldId id="270" r:id="rId28"/>
    <p:sldId id="271" r:id="rId29"/>
    <p:sldId id="272" r:id="rId30"/>
    <p:sldId id="274" r:id="rId31"/>
    <p:sldId id="282" r:id="rId32"/>
    <p:sldId id="275" r:id="rId33"/>
    <p:sldId id="291" r:id="rId34"/>
    <p:sldId id="276" r:id="rId35"/>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image" Target="../media/image22.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image" Target="../media/image24.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1.png"/><Relationship Id="rId2" Type="http://schemas.openxmlformats.org/officeDocument/2006/relationships/image" Target="../media/image27.png"/><Relationship Id="rId1" Type="http://schemas.openxmlformats.org/officeDocument/2006/relationships/image" Target="../media/image26.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xml"/><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image" Target="../media/image28.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xml"/><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image" Target="../media/image30.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xml"/><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image" Target="../media/image32.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xml"/><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image" Target="../media/image34.pn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38.png"/><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okc/6rq3slofmbe7g/mnt/agents/output/template_converted/images/image_1.png"/>
          <p:cNvPicPr>
            <a:picLocks noChangeAspect="1"/>
          </p:cNvPicPr>
          <p:nvPr/>
        </p:nvPicPr>
        <p:blipFill>
          <a:blip r:embed="rId1"/>
          <a:stretch>
            <a:fillRect/>
          </a:stretch>
        </p:blipFill>
        <p:spPr>
          <a:xfrm>
            <a:off x="6610683" y="4638723"/>
            <a:ext cx="2419017" cy="504777"/>
          </a:xfrm>
          <a:prstGeom prst="rect">
            <a:avLst/>
          </a:prstGeom>
        </p:spPr>
      </p:pic>
      <p:pic>
        <p:nvPicPr>
          <p:cNvPr id="3" name="Image 1" descr="https://kimi-img.moonshot.cn/pub/slides/okc/6rq3slofmbe7g/mnt/agents/output/template_converted/images/image_2.png"/>
          <p:cNvPicPr>
            <a:picLocks noChangeAspect="1"/>
          </p:cNvPicPr>
          <p:nvPr/>
        </p:nvPicPr>
        <p:blipFill>
          <a:blip r:embed="rId2"/>
          <a:stretch>
            <a:fillRect/>
          </a:stretch>
        </p:blipFill>
        <p:spPr>
          <a:xfrm>
            <a:off x="0" y="-39648"/>
            <a:ext cx="9143286" cy="5216366"/>
          </a:xfrm>
          <a:prstGeom prst="rect">
            <a:avLst/>
          </a:prstGeom>
        </p:spPr>
      </p:pic>
      <p:sp>
        <p:nvSpPr>
          <p:cNvPr id="4" name="Text 0"/>
          <p:cNvSpPr/>
          <p:nvPr/>
        </p:nvSpPr>
        <p:spPr>
          <a:xfrm>
            <a:off x="2021665" y="2989151"/>
            <a:ext cx="5434608" cy="484775"/>
          </a:xfrm>
          <a:prstGeom prst="rect">
            <a:avLst/>
          </a:prstGeom>
          <a:noFill/>
        </p:spPr>
        <p:txBody>
          <a:bodyPr wrap="square" lIns="0" tIns="0" rIns="0" bIns="0" rtlCol="0" anchor="t"/>
          <a:lstStyle/>
          <a:p>
            <a:pPr marL="0" indent="0" algn="ctr">
              <a:buNone/>
            </a:pPr>
            <a:r>
              <a:rPr lang="en-US" sz="2475" b="1" kern="0" spc="100" dirty="0">
                <a:solidFill>
                  <a:srgbClr val="000000"/>
                </a:solidFill>
                <a:latin typeface="Times New Roman" panose="02020603050405020304" charset="0"/>
                <a:ea typeface="Cambria" panose="02040503050406030204" pitchFamily="34" charset="-122"/>
                <a:cs typeface="Times New Roman" panose="02020603050405020304" charset="0"/>
                <a:sym typeface="+mn-ea"/>
              </a:rPr>
              <a:t>MUSIC STORE DATA ANALYSIS</a:t>
            </a:r>
            <a:endParaRPr lang="en-US" sz="2475" dirty="0">
              <a:latin typeface="Times New Roman" panose="02020603050405020304" charset="0"/>
              <a:cs typeface="Times New Roman" panose="02020603050405020304" charset="0"/>
            </a:endParaRPr>
          </a:p>
        </p:txBody>
      </p:sp>
      <p:sp>
        <p:nvSpPr>
          <p:cNvPr id="5" name="Text Box 4"/>
          <p:cNvSpPr txBox="1"/>
          <p:nvPr/>
        </p:nvSpPr>
        <p:spPr>
          <a:xfrm>
            <a:off x="6303645" y="4167664"/>
            <a:ext cx="2151340" cy="334010"/>
          </a:xfrm>
          <a:prstGeom prst="rect">
            <a:avLst/>
          </a:prstGeom>
          <a:noFill/>
        </p:spPr>
        <p:txBody>
          <a:bodyPr wrap="square" rtlCol="0">
            <a:spAutoFit/>
          </a:bodyPr>
          <a:lstStyle/>
          <a:p>
            <a:r>
              <a:rPr lang="en-US" sz="1575" b="1">
                <a:latin typeface="Times New Roman" panose="02020603050405020304" charset="0"/>
                <a:cs typeface="Times New Roman" panose="02020603050405020304" charset="0"/>
              </a:rPr>
              <a:t>By Mukundraj Pawar</a:t>
            </a:r>
            <a:endParaRPr lang="en-US" sz="1575" b="1">
              <a:latin typeface="Times New Roman" panose="02020603050405020304" charset="0"/>
              <a:cs typeface="Times New Roman" panose="02020603050405020304" charset="0"/>
            </a:endParaRPr>
          </a:p>
        </p:txBody>
      </p:sp>
      <p:sp>
        <p:nvSpPr>
          <p:cNvPr id="6" name="Text Box 5"/>
          <p:cNvSpPr txBox="1"/>
          <p:nvPr/>
        </p:nvSpPr>
        <p:spPr>
          <a:xfrm>
            <a:off x="6386830" y="4512945"/>
            <a:ext cx="1875155" cy="299085"/>
          </a:xfrm>
          <a:prstGeom prst="rect">
            <a:avLst/>
          </a:prstGeom>
          <a:noFill/>
        </p:spPr>
        <p:txBody>
          <a:bodyPr wrap="square" rtlCol="0">
            <a:spAutoFit/>
          </a:bodyPr>
          <a:lstStyle/>
          <a:p>
            <a:r>
              <a:rPr lang="en-US" sz="1350" b="1">
                <a:latin typeface="Times New Roman" panose="02020603050405020304" charset="0"/>
                <a:cs typeface="Times New Roman" panose="02020603050405020304" charset="0"/>
              </a:rPr>
              <a:t>BATCH NO: 543_546</a:t>
            </a:r>
            <a:endParaRPr lang="en-US" sz="1350" b="1">
              <a:latin typeface="Times New Roman" panose="02020603050405020304" charset="0"/>
              <a:cs typeface="Times New Roman" panose="02020603050405020304" charset="0"/>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okc/6rq3slofmbe7g/mnt/agents/output/template_converted/images/image_1.png"/>
          <p:cNvPicPr>
            <a:picLocks noChangeAspect="1"/>
          </p:cNvPicPr>
          <p:nvPr/>
        </p:nvPicPr>
        <p:blipFill>
          <a:blip r:embed="rId1"/>
          <a:stretch>
            <a:fillRect/>
          </a:stretch>
        </p:blipFill>
        <p:spPr>
          <a:xfrm>
            <a:off x="6619573" y="4647613"/>
            <a:ext cx="2419017" cy="504777"/>
          </a:xfrm>
          <a:prstGeom prst="rect">
            <a:avLst/>
          </a:prstGeom>
        </p:spPr>
      </p:pic>
      <p:sp>
        <p:nvSpPr>
          <p:cNvPr id="3" name="Text 0"/>
          <p:cNvSpPr/>
          <p:nvPr/>
        </p:nvSpPr>
        <p:spPr>
          <a:xfrm>
            <a:off x="509707" y="1132284"/>
            <a:ext cx="7751683" cy="2993588"/>
          </a:xfrm>
          <a:prstGeom prst="rect">
            <a:avLst/>
          </a:prstGeom>
          <a:noFill/>
        </p:spPr>
        <p:txBody>
          <a:bodyPr wrap="square" lIns="0" tIns="0" rIns="0" bIns="0" rtlCol="0" anchor="t"/>
          <a:lstStyle/>
          <a:p>
            <a:pPr marL="508000" indent="-508000" algn="l">
              <a:spcBef>
                <a:spcPts val="10"/>
              </a:spcBef>
              <a:buSzPct val="100000"/>
              <a:buChar char="•"/>
            </a:pPr>
            <a:r>
              <a:rPr lang="en-US" sz="1500" dirty="0">
                <a:solidFill>
                  <a:srgbClr val="000000"/>
                </a:solidFill>
                <a:latin typeface="Times New Roman" panose="02020603050405020304" charset="0"/>
                <a:ea typeface="思源宋体" panose="02020500000000000000" pitchFamily="34" charset="-122"/>
                <a:cs typeface="Times New Roman" panose="02020603050405020304" charset="0"/>
              </a:rPr>
              <a:t>Educational Background</a:t>
            </a:r>
            <a:r>
              <a:rPr lang="en-US" sz="1500" b="1" dirty="0">
                <a:solidFill>
                  <a:srgbClr val="000000"/>
                </a:solidFill>
                <a:latin typeface="Times New Roman" panose="02020603050405020304" charset="0"/>
                <a:ea typeface="思源宋体" panose="02020500000000000000" pitchFamily="34" charset="-122"/>
                <a:cs typeface="Times New Roman" panose="02020603050405020304" charset="0"/>
              </a:rPr>
              <a:t> -- Btech/BE(CSE)</a:t>
            </a:r>
            <a:endParaRPr lang="en-US" sz="1500" dirty="0">
              <a:latin typeface="Times New Roman" panose="02020603050405020304" charset="0"/>
              <a:cs typeface="Times New Roman" panose="02020603050405020304" charset="0"/>
            </a:endParaRPr>
          </a:p>
          <a:p>
            <a:pPr marL="508000" indent="-508000" algn="l">
              <a:spcBef>
                <a:spcPts val="10"/>
              </a:spcBef>
              <a:buSzPct val="100000"/>
              <a:buChar char="•"/>
            </a:pPr>
            <a:r>
              <a:rPr lang="en-US" sz="1500" dirty="0">
                <a:solidFill>
                  <a:srgbClr val="000000"/>
                </a:solidFill>
                <a:latin typeface="Times New Roman" panose="02020603050405020304" charset="0"/>
                <a:ea typeface="思源宋体" panose="02020500000000000000" pitchFamily="34" charset="-122"/>
                <a:cs typeface="Times New Roman" panose="02020603050405020304" charset="0"/>
              </a:rPr>
              <a:t>Pursuing Data Science to build data-driven applications and refine analytical skills.</a:t>
            </a:r>
            <a:endParaRPr lang="en-US" sz="1500" dirty="0">
              <a:latin typeface="Times New Roman" panose="02020603050405020304" charset="0"/>
              <a:cs typeface="Times New Roman" panose="02020603050405020304" charset="0"/>
            </a:endParaRPr>
          </a:p>
          <a:p>
            <a:pPr marL="508000" indent="-508000" algn="l">
              <a:spcBef>
                <a:spcPts val="10"/>
              </a:spcBef>
              <a:buSzPct val="100000"/>
              <a:buChar char="•"/>
            </a:pPr>
            <a:r>
              <a:rPr lang="en-US" sz="1500" b="1" dirty="0">
                <a:solidFill>
                  <a:srgbClr val="000000"/>
                </a:solidFill>
                <a:latin typeface="Times New Roman" panose="02020603050405020304" charset="0"/>
                <a:ea typeface="思源宋体" panose="02020500000000000000" pitchFamily="34" charset="-122"/>
                <a:cs typeface="Times New Roman" panose="02020603050405020304" charset="0"/>
              </a:rPr>
              <a:t>3 years </a:t>
            </a:r>
            <a:r>
              <a:rPr lang="en-US" sz="1500" dirty="0">
                <a:solidFill>
                  <a:srgbClr val="000000"/>
                </a:solidFill>
                <a:latin typeface="Times New Roman" panose="02020603050405020304" charset="0"/>
                <a:ea typeface="思源宋体" panose="02020500000000000000" pitchFamily="34" charset="-122"/>
                <a:cs typeface="Times New Roman" panose="02020603050405020304" charset="0"/>
              </a:rPr>
              <a:t>experience on non-technical work</a:t>
            </a:r>
            <a:endParaRPr lang="en-US" sz="1500" dirty="0">
              <a:latin typeface="Times New Roman" panose="02020603050405020304" charset="0"/>
              <a:cs typeface="Times New Roman" panose="02020603050405020304" charset="0"/>
            </a:endParaRPr>
          </a:p>
          <a:p>
            <a:pPr marL="508000" indent="-508000" algn="l">
              <a:spcBef>
                <a:spcPts val="10"/>
              </a:spcBef>
              <a:buSzPct val="100000"/>
              <a:buChar char="•"/>
            </a:pPr>
            <a:r>
              <a:rPr lang="en-US" b="1" u="sng" dirty="0">
                <a:solidFill>
                  <a:srgbClr val="000000"/>
                </a:solidFill>
                <a:latin typeface="Times New Roman" panose="02020603050405020304" charset="0"/>
                <a:ea typeface="思源宋体" panose="02020500000000000000" pitchFamily="34" charset="-122"/>
                <a:cs typeface="Times New Roman" panose="02020603050405020304" charset="0"/>
              </a:rPr>
              <a:t>Linkedin Profile</a:t>
            </a:r>
            <a:endParaRPr lang="en-US" b="1" u="sng" dirty="0">
              <a:solidFill>
                <a:srgbClr val="000000"/>
              </a:solidFill>
              <a:latin typeface="Times New Roman" panose="02020603050405020304" charset="0"/>
              <a:ea typeface="思源宋体" panose="02020500000000000000" pitchFamily="34" charset="-122"/>
              <a:cs typeface="Times New Roman" panose="02020603050405020304" charset="0"/>
            </a:endParaRPr>
          </a:p>
          <a:p>
            <a:pPr indent="457200" algn="l">
              <a:spcBef>
                <a:spcPts val="10"/>
              </a:spcBef>
              <a:buSzPct val="100000"/>
              <a:buNone/>
            </a:pPr>
            <a:r>
              <a:rPr lang="en-US" b="1" dirty="0">
                <a:solidFill>
                  <a:srgbClr val="000000"/>
                </a:solidFill>
                <a:latin typeface="Times New Roman" panose="02020603050405020304" charset="0"/>
                <a:ea typeface="思源宋体" panose="02020500000000000000" pitchFamily="34" charset="-122"/>
                <a:cs typeface="Times New Roman" panose="02020603050405020304" charset="0"/>
              </a:rPr>
              <a:t> -</a:t>
            </a:r>
            <a:r>
              <a:rPr lang="en-US" sz="2250" b="1" dirty="0">
                <a:solidFill>
                  <a:srgbClr val="000000"/>
                </a:solidFill>
                <a:latin typeface="Times New Roman" panose="02020603050405020304" charset="0"/>
                <a:ea typeface="思源宋体" panose="02020500000000000000" pitchFamily="34" charset="-122"/>
                <a:cs typeface="Times New Roman" panose="02020603050405020304" charset="0"/>
              </a:rPr>
              <a:t> </a:t>
            </a:r>
            <a:r>
              <a:rPr lang="en-US" sz="1240" b="1" u="sng" dirty="0">
                <a:solidFill>
                  <a:srgbClr val="000000">
                    <a:alpha val="60000"/>
                  </a:srgbClr>
                </a:solidFill>
                <a:highlight>
                  <a:srgbClr val="FFFFFF">
                    <a:alpha val="100000"/>
                  </a:srgbClr>
                </a:highlight>
                <a:uFill>
                  <a:solidFill>
                    <a:srgbClr val="000000"/>
                  </a:solidFill>
                </a:uFill>
                <a:latin typeface="Times New Roman" panose="02020603050405020304" charset="0"/>
                <a:ea typeface="system-ui" pitchFamily="34" charset="-122"/>
                <a:cs typeface="Times New Roman" panose="02020603050405020304" charset="0"/>
              </a:rPr>
              <a:t>www.linkedin.com/in/mukundraj-pawar-7a39a7364</a:t>
            </a:r>
            <a:endParaRPr lang="en-US" dirty="0">
              <a:latin typeface="Times New Roman" panose="02020603050405020304" charset="0"/>
              <a:cs typeface="Times New Roman" panose="02020603050405020304" charset="0"/>
            </a:endParaRPr>
          </a:p>
          <a:p>
            <a:pPr marL="508000" indent="-508000" algn="l">
              <a:spcBef>
                <a:spcPts val="10"/>
              </a:spcBef>
              <a:buSzPct val="100000"/>
              <a:buChar char="•"/>
            </a:pPr>
            <a:r>
              <a:rPr lang="en-US" b="1" u="sng" dirty="0">
                <a:solidFill>
                  <a:srgbClr val="000000"/>
                </a:solidFill>
                <a:latin typeface="Times New Roman" panose="02020603050405020304" charset="0"/>
                <a:ea typeface="思源宋体" panose="02020500000000000000" pitchFamily="34" charset="-122"/>
                <a:cs typeface="Times New Roman" panose="02020603050405020304" charset="0"/>
              </a:rPr>
              <a:t>Github profile </a:t>
            </a:r>
            <a:endParaRPr lang="en-US" b="1" u="sng" dirty="0">
              <a:solidFill>
                <a:srgbClr val="000000"/>
              </a:solidFill>
              <a:latin typeface="Times New Roman" panose="02020603050405020304" charset="0"/>
              <a:ea typeface="思源宋体" panose="02020500000000000000" pitchFamily="34" charset="-122"/>
              <a:cs typeface="Times New Roman" panose="02020603050405020304" charset="0"/>
            </a:endParaRPr>
          </a:p>
          <a:p>
            <a:pPr indent="457200" algn="l">
              <a:spcBef>
                <a:spcPts val="10"/>
              </a:spcBef>
              <a:buSzPct val="100000"/>
              <a:buNone/>
            </a:pPr>
            <a:r>
              <a:rPr lang="en-US" altLang="en-US" sz="1240" u="sng" dirty="0">
                <a:solidFill>
                  <a:srgbClr val="000000"/>
                </a:solidFill>
                <a:latin typeface="Times New Roman" panose="02020603050405020304" charset="0"/>
                <a:ea typeface="思源宋体" panose="02020500000000000000" pitchFamily="34" charset="-122"/>
                <a:cs typeface="Times New Roman" panose="02020603050405020304" charset="0"/>
              </a:rPr>
              <a:t>- https://github.com/teachmeiamyourjuniour/SQL-projects</a:t>
            </a:r>
            <a:endParaRPr lang="en-US" altLang="en-US" sz="1240" u="sng" dirty="0">
              <a:solidFill>
                <a:srgbClr val="000000"/>
              </a:solidFill>
              <a:latin typeface="Times New Roman" panose="02020603050405020304" charset="0"/>
              <a:ea typeface="思源宋体" panose="02020500000000000000" pitchFamily="34" charset="-122"/>
              <a:cs typeface="Times New Roman" panose="02020603050405020304" charset="0"/>
            </a:endParaRPr>
          </a:p>
        </p:txBody>
      </p:sp>
      <p:sp>
        <p:nvSpPr>
          <p:cNvPr id="4" name="Text 1"/>
          <p:cNvSpPr/>
          <p:nvPr/>
        </p:nvSpPr>
        <p:spPr>
          <a:xfrm>
            <a:off x="351272" y="630349"/>
            <a:ext cx="1694495" cy="408698"/>
          </a:xfrm>
          <a:prstGeom prst="rect">
            <a:avLst/>
          </a:prstGeom>
          <a:noFill/>
        </p:spPr>
        <p:txBody>
          <a:bodyPr wrap="square" lIns="0" tIns="0" rIns="0" bIns="0" rtlCol="0" anchor="t"/>
          <a:lstStyle/>
          <a:p>
            <a:pPr algn="l">
              <a:lnSpc>
                <a:spcPct val="80000"/>
              </a:lnSpc>
            </a:pPr>
            <a:r>
              <a:rPr lang="en-US" sz="2740" b="1" dirty="0">
                <a:solidFill>
                  <a:schemeClr val="tx1"/>
                </a:solidFill>
                <a:latin typeface="Times New Roman" panose="02020603050405020304" charset="0"/>
                <a:ea typeface="Lato Black" pitchFamily="34" charset="-122"/>
                <a:cs typeface="Times New Roman" panose="02020603050405020304" charset="0"/>
              </a:rPr>
              <a:t>About me </a:t>
            </a:r>
            <a:endParaRPr lang="en-US" sz="2740" b="1" dirty="0">
              <a:solidFill>
                <a:schemeClr val="tx1"/>
              </a:solidFill>
              <a:latin typeface="Times New Roman" panose="02020603050405020304" charset="0"/>
              <a:ea typeface="Lato Black" pitchFamily="34" charset="-122"/>
              <a:cs typeface="Times New Roman" panose="02020603050405020304" charset="0"/>
            </a:endParaRPr>
          </a:p>
        </p:txBody>
      </p:sp>
      <p:sp>
        <p:nvSpPr>
          <p:cNvPr id="5" name="Text 2"/>
          <p:cNvSpPr/>
          <p:nvPr/>
        </p:nvSpPr>
        <p:spPr>
          <a:xfrm>
            <a:off x="3310855" y="4263530"/>
            <a:ext cx="1428750" cy="500063"/>
          </a:xfrm>
          <a:prstGeom prst="rect">
            <a:avLst/>
          </a:prstGeom>
          <a:noFill/>
        </p:spPr>
        <p:txBody>
          <a:bodyPr wrap="square" lIns="0" tIns="0" rIns="0" bIns="0" rtlCol="0" anchor="t"/>
          <a:lstStyle/>
          <a:p>
            <a:pPr algn="l">
              <a:lnSpc>
                <a:spcPct val="120000"/>
              </a:lnSpc>
            </a:pPr>
            <a:endParaRPr lang="en-US" sz="9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2155825" cy="640080"/>
          </a:xfrm>
          <a:prstGeom prst="rect">
            <a:avLst/>
          </a:prstGeom>
          <a:noFill/>
        </p:spPr>
        <p:txBody>
          <a:bodyPr wrap="square" lIns="0" tIns="0" rIns="0" bIns="0" rtlCol="0" anchor="ctr"/>
          <a:lstStyle/>
          <a:p>
            <a:pPr marL="0" indent="0">
              <a:buNone/>
            </a:pPr>
            <a:r>
              <a:rPr lang="en-US" sz="2800" b="1" dirty="0">
                <a:solidFill>
                  <a:schemeClr val="tx1"/>
                </a:solidFill>
                <a:latin typeface="Times New Roman" panose="02020603050405020304" charset="0"/>
                <a:ea typeface="Cambria" panose="02040503050406030204" pitchFamily="34" charset="-122"/>
                <a:cs typeface="Times New Roman" panose="02020603050405020304" charset="0"/>
              </a:rPr>
              <a:t>Agenda:</a:t>
            </a:r>
            <a:endParaRPr lang="en-US" sz="2800" b="1" dirty="0">
              <a:solidFill>
                <a:schemeClr val="tx1"/>
              </a:solidFill>
              <a:latin typeface="Times New Roman" panose="02020603050405020304" charset="0"/>
              <a:ea typeface="Cambria" panose="02040503050406030204" pitchFamily="34" charset="-122"/>
              <a:cs typeface="Times New Roman" panose="02020603050405020304" charset="0"/>
            </a:endParaRPr>
          </a:p>
        </p:txBody>
      </p:sp>
      <p:sp>
        <p:nvSpPr>
          <p:cNvPr id="3" name="Text 1"/>
          <p:cNvSpPr/>
          <p:nvPr/>
        </p:nvSpPr>
        <p:spPr>
          <a:xfrm>
            <a:off x="601345" y="1097915"/>
            <a:ext cx="4491355" cy="3200400"/>
          </a:xfrm>
          <a:prstGeom prst="rect">
            <a:avLst/>
          </a:prstGeom>
          <a:noFill/>
        </p:spPr>
        <p:txBody>
          <a:bodyPr wrap="square" lIns="0" tIns="0" rIns="0" bIns="0" rtlCol="0" anchor="t"/>
          <a:lstStyle/>
          <a:p>
            <a:pPr marL="342900" indent="-342900">
              <a:lnSpc>
                <a:spcPct val="90000"/>
              </a:lnSpc>
              <a:spcAft>
                <a:spcPts val="800"/>
              </a:spcAft>
              <a:buSzPct val="100000"/>
              <a:buChar char="•"/>
            </a:pPr>
            <a:r>
              <a:rPr lang="en-US" dirty="0">
                <a:solidFill>
                  <a:srgbClr val="000000"/>
                </a:solidFill>
                <a:latin typeface="Times New Roman" panose="02020603050405020304" charset="0"/>
                <a:ea typeface="Cambria" panose="02040503050406030204" pitchFamily="34" charset="-122"/>
                <a:cs typeface="Times New Roman" panose="02020603050405020304" charset="0"/>
                <a:sym typeface="+mn-ea"/>
              </a:rPr>
              <a:t>Business Problem:</a:t>
            </a:r>
            <a:endParaRPr lang="en-US" dirty="0">
              <a:latin typeface="Times New Roman" panose="02020603050405020304" charset="0"/>
              <a:cs typeface="Times New Roman" panose="02020603050405020304" charset="0"/>
            </a:endParaRPr>
          </a:p>
          <a:p>
            <a:pPr marL="342900" indent="-342900">
              <a:lnSpc>
                <a:spcPct val="90000"/>
              </a:lnSpc>
              <a:spcAft>
                <a:spcPts val="800"/>
              </a:spcAft>
              <a:buSzPct val="100000"/>
              <a:buChar char="•"/>
            </a:pPr>
            <a:r>
              <a:rPr lang="en-US" dirty="0">
                <a:solidFill>
                  <a:srgbClr val="000000"/>
                </a:solidFill>
                <a:latin typeface="Times New Roman" panose="02020603050405020304" charset="0"/>
                <a:ea typeface="Cambria" panose="02040503050406030204" pitchFamily="34" charset="-122"/>
                <a:cs typeface="Times New Roman" panose="02020603050405020304" charset="0"/>
                <a:sym typeface="+mn-ea"/>
              </a:rPr>
              <a:t>Business Statement:</a:t>
            </a:r>
            <a:endParaRPr lang="en-US" dirty="0">
              <a:solidFill>
                <a:srgbClr val="000000"/>
              </a:solidFill>
              <a:latin typeface="Times New Roman" panose="02020603050405020304" charset="0"/>
              <a:ea typeface="Arial" panose="020B0604020202020204" pitchFamily="34" charset="-122"/>
              <a:cs typeface="Times New Roman" panose="02020603050405020304" charset="0"/>
            </a:endParaRPr>
          </a:p>
          <a:p>
            <a:pPr marL="342900" indent="-342900">
              <a:lnSpc>
                <a:spcPct val="90000"/>
              </a:lnSpc>
              <a:spcAft>
                <a:spcPts val="800"/>
              </a:spcAft>
              <a:buSzPct val="100000"/>
              <a:buChar char="•"/>
            </a:pPr>
            <a:r>
              <a:rPr lang="en-US" dirty="0">
                <a:solidFill>
                  <a:srgbClr val="000000"/>
                </a:solidFill>
                <a:latin typeface="Times New Roman" panose="02020603050405020304" charset="0"/>
                <a:ea typeface="Arial" panose="020B0604020202020204" pitchFamily="34" charset="-122"/>
                <a:cs typeface="Times New Roman" panose="02020603050405020304" charset="0"/>
              </a:rPr>
              <a:t>Introduction</a:t>
            </a:r>
            <a:endParaRPr lang="en-US" dirty="0">
              <a:latin typeface="Times New Roman" panose="02020603050405020304" charset="0"/>
              <a:cs typeface="Times New Roman" panose="02020603050405020304" charset="0"/>
            </a:endParaRPr>
          </a:p>
          <a:p>
            <a:pPr marL="342900" indent="-342900">
              <a:lnSpc>
                <a:spcPct val="90000"/>
              </a:lnSpc>
              <a:spcAft>
                <a:spcPts val="800"/>
              </a:spcAft>
              <a:buSzPct val="100000"/>
              <a:buChar char="•"/>
            </a:pPr>
            <a:r>
              <a:rPr lang="en-US" dirty="0">
                <a:solidFill>
                  <a:srgbClr val="000000"/>
                </a:solidFill>
                <a:latin typeface="Times New Roman" panose="02020603050405020304" charset="0"/>
                <a:ea typeface="Arial" panose="020B0604020202020204" pitchFamily="34" charset="-122"/>
                <a:cs typeface="Times New Roman" panose="02020603050405020304" charset="0"/>
              </a:rPr>
              <a:t>Objective of the Project</a:t>
            </a:r>
            <a:endParaRPr lang="en-US" dirty="0">
              <a:solidFill>
                <a:srgbClr val="000000"/>
              </a:solidFill>
              <a:latin typeface="Times New Roman" panose="02020603050405020304" charset="0"/>
              <a:ea typeface="Arial" panose="020B0604020202020204" pitchFamily="34" charset="-122"/>
              <a:cs typeface="Times New Roman" panose="02020603050405020304" charset="0"/>
            </a:endParaRPr>
          </a:p>
          <a:p>
            <a:pPr marL="342900" indent="-342900">
              <a:lnSpc>
                <a:spcPct val="90000"/>
              </a:lnSpc>
              <a:spcAft>
                <a:spcPts val="800"/>
              </a:spcAft>
              <a:buSzPct val="100000"/>
              <a:buChar char="•"/>
            </a:pPr>
            <a:r>
              <a:rPr lang="en-US" dirty="0">
                <a:latin typeface="Times New Roman" panose="02020603050405020304" charset="0"/>
                <a:cs typeface="Times New Roman" panose="02020603050405020304" charset="0"/>
              </a:rPr>
              <a:t>Data description</a:t>
            </a:r>
            <a:endParaRPr lang="en-US" dirty="0">
              <a:latin typeface="Times New Roman" panose="02020603050405020304" charset="0"/>
              <a:cs typeface="Times New Roman" panose="02020603050405020304" charset="0"/>
            </a:endParaRPr>
          </a:p>
          <a:p>
            <a:pPr marL="342900" indent="-342900">
              <a:lnSpc>
                <a:spcPct val="90000"/>
              </a:lnSpc>
              <a:spcAft>
                <a:spcPts val="800"/>
              </a:spcAft>
              <a:buSzPct val="100000"/>
              <a:buChar char="•"/>
            </a:pPr>
            <a:r>
              <a:rPr lang="en-US" dirty="0">
                <a:solidFill>
                  <a:srgbClr val="000000"/>
                </a:solidFill>
                <a:latin typeface="Times New Roman" panose="02020603050405020304" charset="0"/>
                <a:ea typeface="Arial" panose="020B0604020202020204" pitchFamily="34" charset="-122"/>
                <a:cs typeface="Times New Roman" panose="02020603050405020304" charset="0"/>
              </a:rPr>
              <a:t>Key analysis questions (use cases)</a:t>
            </a:r>
            <a:endParaRPr lang="en-US" dirty="0">
              <a:latin typeface="Times New Roman" panose="02020603050405020304" charset="0"/>
              <a:cs typeface="Times New Roman" panose="02020603050405020304" charset="0"/>
            </a:endParaRPr>
          </a:p>
          <a:p>
            <a:pPr marL="342900" indent="-342900">
              <a:lnSpc>
                <a:spcPct val="90000"/>
              </a:lnSpc>
              <a:spcAft>
                <a:spcPts val="800"/>
              </a:spcAft>
              <a:buSzPct val="100000"/>
              <a:buChar char="•"/>
            </a:pPr>
            <a:r>
              <a:rPr lang="en-US" dirty="0">
                <a:solidFill>
                  <a:srgbClr val="000000"/>
                </a:solidFill>
                <a:latin typeface="Times New Roman" panose="02020603050405020304" charset="0"/>
                <a:ea typeface="Arial" panose="020B0604020202020204" pitchFamily="34" charset="-122"/>
                <a:cs typeface="Times New Roman" panose="02020603050405020304" charset="0"/>
              </a:rPr>
              <a:t>Conclusion (Key finding overall)</a:t>
            </a:r>
            <a:endParaRPr lang="en-US" dirty="0">
              <a:latin typeface="Times New Roman" panose="02020603050405020304" charset="0"/>
              <a:cs typeface="Times New Roman" panose="02020603050405020304" charset="0"/>
            </a:endParaRPr>
          </a:p>
          <a:p>
            <a:pPr marL="342900" indent="-342900">
              <a:lnSpc>
                <a:spcPct val="90000"/>
              </a:lnSpc>
              <a:spcAft>
                <a:spcPts val="800"/>
              </a:spcAft>
              <a:buSzPct val="100000"/>
              <a:buChar char="•"/>
            </a:pPr>
            <a:r>
              <a:rPr lang="en-US" dirty="0">
                <a:solidFill>
                  <a:srgbClr val="000000"/>
                </a:solidFill>
                <a:latin typeface="Times New Roman" panose="02020603050405020304" charset="0"/>
                <a:ea typeface="Arial" panose="020B0604020202020204" pitchFamily="34" charset="-122"/>
                <a:cs typeface="Times New Roman" panose="02020603050405020304" charset="0"/>
              </a:rPr>
              <a:t>Business Insights</a:t>
            </a:r>
            <a:endParaRPr lang="en-US" dirty="0">
              <a:latin typeface="Times New Roman" panose="02020603050405020304" charset="0"/>
              <a:cs typeface="Times New Roman" panose="02020603050405020304" charset="0"/>
            </a:endParaRPr>
          </a:p>
          <a:p>
            <a:pPr marL="342900" indent="-342900">
              <a:lnSpc>
                <a:spcPct val="90000"/>
              </a:lnSpc>
              <a:spcAft>
                <a:spcPts val="800"/>
              </a:spcAft>
              <a:buSzPct val="100000"/>
              <a:buChar char="•"/>
            </a:pPr>
            <a:r>
              <a:rPr lang="en-US" dirty="0">
                <a:solidFill>
                  <a:srgbClr val="000000"/>
                </a:solidFill>
                <a:latin typeface="Times New Roman" panose="02020603050405020304" charset="0"/>
                <a:ea typeface="Arial" panose="020B0604020202020204" pitchFamily="34" charset="-122"/>
                <a:cs typeface="Times New Roman" panose="02020603050405020304" charset="0"/>
              </a:rPr>
              <a:t>Challenges</a:t>
            </a:r>
            <a:endParaRPr lang="en-US" dirty="0">
              <a:latin typeface="Times New Roman" panose="02020603050405020304" charset="0"/>
              <a:cs typeface="Times New Roman" panose="02020603050405020304" charset="0"/>
            </a:endParaRPr>
          </a:p>
        </p:txBody>
      </p:sp>
      <p:pic>
        <p:nvPicPr>
          <p:cNvPr id="5" name="Image 0" descr="https://kimi-img.moonshot.cn/pub/slides/okc/6rq3slofmbe7g/mnt/agents/output/template_converted/images/image_1.png"/>
          <p:cNvPicPr>
            <a:picLocks noChangeAspect="1"/>
          </p:cNvPicPr>
          <p:nvPr/>
        </p:nvPicPr>
        <p:blipFill>
          <a:blip r:embed="rId1"/>
          <a:stretch>
            <a:fillRect/>
          </a:stretch>
        </p:blipFill>
        <p:spPr>
          <a:xfrm>
            <a:off x="6724983" y="4638723"/>
            <a:ext cx="2419017" cy="50477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20040"/>
            <a:ext cx="3158490" cy="640080"/>
          </a:xfrm>
          <a:prstGeom prst="rect">
            <a:avLst/>
          </a:prstGeom>
          <a:noFill/>
        </p:spPr>
        <p:txBody>
          <a:bodyPr wrap="square" lIns="0" tIns="0" rIns="0" bIns="0" rtlCol="0" anchor="ctr"/>
          <a:lstStyle/>
          <a:p>
            <a:pPr marL="0" indent="0">
              <a:buNone/>
            </a:pPr>
            <a:r>
              <a:rPr lang="en-US" sz="2800" b="1" dirty="0">
                <a:solidFill>
                  <a:srgbClr val="000000"/>
                </a:solidFill>
                <a:latin typeface="Times New Roman" panose="02020603050405020304" charset="0"/>
                <a:ea typeface="Cambria" panose="02040503050406030204" pitchFamily="34" charset="-122"/>
                <a:cs typeface="Times New Roman" panose="02020603050405020304" charset="0"/>
              </a:rPr>
              <a:t>Business </a:t>
            </a:r>
            <a:r>
              <a:rPr lang="en-US" sz="2800" b="1" dirty="0">
                <a:solidFill>
                  <a:srgbClr val="000000"/>
                </a:solidFill>
                <a:latin typeface="Times New Roman" panose="02020603050405020304" charset="0"/>
                <a:ea typeface="Cambria" panose="02040503050406030204" pitchFamily="34" charset="-122"/>
                <a:cs typeface="Times New Roman" panose="02020603050405020304" charset="0"/>
              </a:rPr>
              <a:t>Problem:</a:t>
            </a:r>
            <a:endParaRPr lang="en-US" sz="2800" dirty="0">
              <a:latin typeface="Times New Roman" panose="02020603050405020304" charset="0"/>
              <a:cs typeface="Times New Roman" panose="02020603050405020304" charset="0"/>
            </a:endParaRPr>
          </a:p>
        </p:txBody>
      </p:sp>
      <p:sp>
        <p:nvSpPr>
          <p:cNvPr id="3" name="Text 1"/>
          <p:cNvSpPr/>
          <p:nvPr/>
        </p:nvSpPr>
        <p:spPr>
          <a:xfrm>
            <a:off x="640080" y="1107440"/>
            <a:ext cx="7955280" cy="3120390"/>
          </a:xfrm>
          <a:prstGeom prst="rect">
            <a:avLst/>
          </a:prstGeom>
          <a:noFill/>
        </p:spPr>
        <p:txBody>
          <a:bodyPr wrap="square" lIns="0" tIns="0" rIns="0" bIns="0" rtlCol="0" anchor="t"/>
          <a:lstStyle/>
          <a:p>
            <a:pPr marL="342900" indent="-342900">
              <a:spcAft>
                <a:spcPts val="600"/>
              </a:spcAft>
              <a:buSzPct val="100000"/>
              <a:buChar char="•"/>
            </a:pPr>
            <a:r>
              <a:rPr lang="en-US" sz="1500" dirty="0">
                <a:solidFill>
                  <a:srgbClr val="000000"/>
                </a:solidFill>
                <a:latin typeface="Times New Roman" panose="02020603050405020304" charset="0"/>
                <a:ea typeface="Arial" panose="020B0604020202020204" pitchFamily="34" charset="-122"/>
                <a:cs typeface="Times New Roman" panose="02020603050405020304" charset="0"/>
              </a:rPr>
              <a:t>The music store maintains a large transactional database of customers, invoices, tracks, artists, and genres but the data is not being converted into actionable business intelligence.</a:t>
            </a:r>
            <a:endParaRPr lang="en-US" sz="1500" dirty="0">
              <a:latin typeface="Times New Roman" panose="02020603050405020304" charset="0"/>
              <a:cs typeface="Times New Roman" panose="02020603050405020304" charset="0"/>
            </a:endParaRPr>
          </a:p>
          <a:p>
            <a:pPr marL="342900" indent="-342900">
              <a:spcAft>
                <a:spcPts val="600"/>
              </a:spcAft>
              <a:buSzPct val="100000"/>
              <a:buChar char="•"/>
            </a:pPr>
            <a:r>
              <a:rPr lang="en-US" sz="1500" dirty="0">
                <a:solidFill>
                  <a:srgbClr val="000000"/>
                </a:solidFill>
                <a:latin typeface="Times New Roman" panose="02020603050405020304" charset="0"/>
                <a:ea typeface="Arial" panose="020B0604020202020204" pitchFamily="34" charset="-122"/>
                <a:cs typeface="Times New Roman" panose="02020603050405020304" charset="0"/>
              </a:rPr>
              <a:t>Without systematic analysis, the store cannot identify its highest-value customers, top-revenue cities, country-level genre preferences, or the artists driving the most sales.</a:t>
            </a:r>
            <a:endParaRPr lang="en-US" sz="1500" dirty="0">
              <a:latin typeface="Times New Roman" panose="02020603050405020304" charset="0"/>
              <a:cs typeface="Times New Roman" panose="02020603050405020304" charset="0"/>
            </a:endParaRPr>
          </a:p>
          <a:p>
            <a:pPr marL="342900" indent="-342900">
              <a:spcAft>
                <a:spcPts val="600"/>
              </a:spcAft>
              <a:buSzPct val="100000"/>
              <a:buChar char="•"/>
            </a:pPr>
            <a:r>
              <a:rPr lang="en-US" sz="1500" dirty="0">
                <a:solidFill>
                  <a:srgbClr val="000000"/>
                </a:solidFill>
                <a:latin typeface="Times New Roman" panose="02020603050405020304" charset="0"/>
                <a:ea typeface="Arial" panose="020B0604020202020204" pitchFamily="34" charset="-122"/>
                <a:cs typeface="Times New Roman" panose="02020603050405020304" charset="0"/>
              </a:rPr>
              <a:t>Marketing campaigns are run broadly rather than targeted to specific cities, genres, or customer segments.</a:t>
            </a:r>
            <a:endParaRPr lang="en-US" sz="1500" dirty="0">
              <a:latin typeface="Times New Roman" panose="02020603050405020304" charset="0"/>
              <a:cs typeface="Times New Roman" panose="02020603050405020304" charset="0"/>
            </a:endParaRPr>
          </a:p>
          <a:p>
            <a:pPr marL="342900" indent="-342900">
              <a:spcAft>
                <a:spcPts val="600"/>
              </a:spcAft>
              <a:buSzPct val="100000"/>
              <a:buChar char="•"/>
            </a:pPr>
            <a:r>
              <a:rPr lang="en-US" sz="1500" dirty="0">
                <a:solidFill>
                  <a:srgbClr val="000000"/>
                </a:solidFill>
                <a:latin typeface="Times New Roman" panose="02020603050405020304" charset="0"/>
                <a:ea typeface="Arial" panose="020B0604020202020204" pitchFamily="34" charset="-122"/>
                <a:cs typeface="Times New Roman" panose="02020603050405020304" charset="0"/>
              </a:rPr>
              <a:t>Promotional events (such as the planned Music Festival) cannot be placed in the highest-potential location without a clear revenue-by-city view.</a:t>
            </a:r>
            <a:endParaRPr lang="en-US" sz="1500" dirty="0">
              <a:latin typeface="Times New Roman" panose="02020603050405020304" charset="0"/>
              <a:cs typeface="Times New Roman" panose="02020603050405020304" charset="0"/>
            </a:endParaRPr>
          </a:p>
          <a:p>
            <a:pPr indent="0">
              <a:spcAft>
                <a:spcPts val="600"/>
              </a:spcAft>
              <a:buSzPct val="100000"/>
              <a:buNone/>
            </a:pPr>
            <a:endParaRPr lang="en-US" sz="1500" dirty="0">
              <a:latin typeface="Times New Roman" panose="02020603050405020304" charset="0"/>
              <a:cs typeface="Times New Roman" panose="02020603050405020304" charset="0"/>
            </a:endParaRPr>
          </a:p>
        </p:txBody>
      </p:sp>
      <p:pic>
        <p:nvPicPr>
          <p:cNvPr id="5" name="Image 0" descr="https://kimi-img.moonshot.cn/pub/slides/okc/6rq3slofmbe7g/mnt/agents/output/template_converted/images/image_1.png"/>
          <p:cNvPicPr>
            <a:picLocks noChangeAspect="1"/>
          </p:cNvPicPr>
          <p:nvPr/>
        </p:nvPicPr>
        <p:blipFill>
          <a:blip r:embed="rId1"/>
          <a:stretch>
            <a:fillRect/>
          </a:stretch>
        </p:blipFill>
        <p:spPr>
          <a:xfrm>
            <a:off x="6672913" y="4638723"/>
            <a:ext cx="2419017" cy="50477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0530" y="847090"/>
            <a:ext cx="3529965" cy="640080"/>
          </a:xfrm>
          <a:prstGeom prst="rect">
            <a:avLst/>
          </a:prstGeom>
          <a:noFill/>
        </p:spPr>
        <p:txBody>
          <a:bodyPr wrap="square" lIns="0" tIns="0" rIns="0" bIns="0" rtlCol="0" anchor="ctr"/>
          <a:lstStyle/>
          <a:p>
            <a:pPr marL="0" indent="0">
              <a:buNone/>
            </a:pPr>
            <a:r>
              <a:rPr lang="en-US" sz="2800" b="1" dirty="0">
                <a:solidFill>
                  <a:srgbClr val="000000"/>
                </a:solidFill>
                <a:latin typeface="Times New Roman" panose="02020603050405020304" charset="0"/>
                <a:ea typeface="Cambria" panose="02040503050406030204" pitchFamily="34" charset="-122"/>
                <a:cs typeface="Times New Roman" panose="02020603050405020304" charset="0"/>
              </a:rPr>
              <a:t>Business Statement:</a:t>
            </a:r>
            <a:endParaRPr lang="en-US" sz="2800" dirty="0">
              <a:latin typeface="Times New Roman" panose="02020603050405020304" charset="0"/>
              <a:cs typeface="Times New Roman" panose="02020603050405020304" charset="0"/>
            </a:endParaRPr>
          </a:p>
        </p:txBody>
      </p:sp>
      <p:sp>
        <p:nvSpPr>
          <p:cNvPr id="3" name="Text 1"/>
          <p:cNvSpPr/>
          <p:nvPr/>
        </p:nvSpPr>
        <p:spPr>
          <a:xfrm>
            <a:off x="648970" y="1623695"/>
            <a:ext cx="7190740" cy="871220"/>
          </a:xfrm>
          <a:prstGeom prst="rect">
            <a:avLst/>
          </a:prstGeom>
          <a:noFill/>
        </p:spPr>
        <p:txBody>
          <a:bodyPr wrap="square" lIns="0" tIns="0" rIns="0" bIns="0" rtlCol="0" anchor="t"/>
          <a:lstStyle/>
          <a:p>
            <a:pPr marL="0" indent="0" algn="just">
              <a:buNone/>
            </a:pPr>
            <a:r>
              <a:rPr lang="en-US" dirty="0">
                <a:solidFill>
                  <a:schemeClr val="tx1"/>
                </a:solidFill>
                <a:latin typeface="Times New Roman" panose="02020603050405020304" charset="0"/>
                <a:ea typeface="Cambria" panose="02040503050406030204" pitchFamily="34" charset="-122"/>
                <a:cs typeface="Times New Roman" panose="02020603050405020304" charset="0"/>
              </a:rPr>
              <a:t>To leverage SQL-based data analysis to extract actionable business insights from the music store database, enabling data-driven decisions across customer engagement, promotional planning, inventory management, and revenue optimization.</a:t>
            </a:r>
            <a:endParaRPr lang="en-US" dirty="0">
              <a:solidFill>
                <a:schemeClr val="tx1"/>
              </a:solidFill>
              <a:latin typeface="Times New Roman" panose="02020603050405020304" charset="0"/>
              <a:ea typeface="Cambria" panose="02040503050406030204" pitchFamily="34" charset="-122"/>
              <a:cs typeface="Times New Roman" panose="02020603050405020304" charset="0"/>
            </a:endParaRPr>
          </a:p>
        </p:txBody>
      </p:sp>
      <p:pic>
        <p:nvPicPr>
          <p:cNvPr id="7" name="Image 0" descr="https://kimi-img.moonshot.cn/pub/slides/okc/6rq3slofmbe7g/mnt/agents/output/template_converted/images/image_1.png"/>
          <p:cNvPicPr>
            <a:picLocks noChangeAspect="1"/>
          </p:cNvPicPr>
          <p:nvPr/>
        </p:nvPicPr>
        <p:blipFill>
          <a:blip r:embed="rId1"/>
          <a:stretch>
            <a:fillRect/>
          </a:stretch>
        </p:blipFill>
        <p:spPr>
          <a:xfrm>
            <a:off x="11752326" y="8246618"/>
            <a:ext cx="4300474" cy="897382"/>
          </a:xfrm>
          <a:prstGeom prst="rect">
            <a:avLst/>
          </a:prstGeom>
        </p:spPr>
      </p:pic>
      <p:pic>
        <p:nvPicPr>
          <p:cNvPr id="8" name="Image 0" descr="https://kimi-img.moonshot.cn/pub/slides/okc/6rq3slofmbe7g/mnt/agents/output/template_converted/images/image_1.png"/>
          <p:cNvPicPr>
            <a:picLocks noChangeAspect="1"/>
          </p:cNvPicPr>
          <p:nvPr/>
        </p:nvPicPr>
        <p:blipFill>
          <a:blip r:embed="rId1"/>
          <a:stretch>
            <a:fillRect/>
          </a:stretch>
        </p:blipFill>
        <p:spPr>
          <a:xfrm>
            <a:off x="11879326" y="8373618"/>
            <a:ext cx="4300474" cy="897382"/>
          </a:xfrm>
          <a:prstGeom prst="rect">
            <a:avLst/>
          </a:prstGeom>
        </p:spPr>
      </p:pic>
      <p:pic>
        <p:nvPicPr>
          <p:cNvPr id="9" name="Image 0" descr="https://kimi-img.moonshot.cn/pub/slides/okc/6rq3slofmbe7g/mnt/agents/output/template_converted/images/image_1.png"/>
          <p:cNvPicPr>
            <a:picLocks noChangeAspect="1"/>
          </p:cNvPicPr>
          <p:nvPr/>
        </p:nvPicPr>
        <p:blipFill>
          <a:blip r:embed="rId1"/>
          <a:stretch>
            <a:fillRect/>
          </a:stretch>
        </p:blipFill>
        <p:spPr>
          <a:xfrm>
            <a:off x="12006326" y="8500618"/>
            <a:ext cx="4300474" cy="897382"/>
          </a:xfrm>
          <a:prstGeom prst="rect">
            <a:avLst/>
          </a:prstGeom>
        </p:spPr>
      </p:pic>
      <p:pic>
        <p:nvPicPr>
          <p:cNvPr id="10" name="Image 0" descr="https://kimi-img.moonshot.cn/pub/slides/okc/6rq3slofmbe7g/mnt/agents/output/template_converted/images/image_1.png"/>
          <p:cNvPicPr>
            <a:picLocks noChangeAspect="1"/>
          </p:cNvPicPr>
          <p:nvPr/>
        </p:nvPicPr>
        <p:blipFill>
          <a:blip r:embed="rId1"/>
          <a:stretch>
            <a:fillRect/>
          </a:stretch>
        </p:blipFill>
        <p:spPr>
          <a:xfrm>
            <a:off x="12133326" y="8627618"/>
            <a:ext cx="4300474" cy="897382"/>
          </a:xfrm>
          <a:prstGeom prst="rect">
            <a:avLst/>
          </a:prstGeom>
        </p:spPr>
      </p:pic>
      <p:pic>
        <p:nvPicPr>
          <p:cNvPr id="11" name="Image 0" descr="https://kimi-img.moonshot.cn/pub/slides/okc/6rq3slofmbe7g/mnt/agents/output/template_converted/images/image_1.png"/>
          <p:cNvPicPr>
            <a:picLocks noChangeAspect="1"/>
          </p:cNvPicPr>
          <p:nvPr/>
        </p:nvPicPr>
        <p:blipFill>
          <a:blip r:embed="rId1"/>
          <a:stretch>
            <a:fillRect/>
          </a:stretch>
        </p:blipFill>
        <p:spPr>
          <a:xfrm>
            <a:off x="12260326" y="8754618"/>
            <a:ext cx="4300474" cy="897382"/>
          </a:xfrm>
          <a:prstGeom prst="rect">
            <a:avLst/>
          </a:prstGeom>
        </p:spPr>
      </p:pic>
      <p:pic>
        <p:nvPicPr>
          <p:cNvPr id="12" name="Image 0" descr="https://kimi-img.moonshot.cn/pub/slides/okc/6rq3slofmbe7g/mnt/agents/output/template_converted/images/image_1.png"/>
          <p:cNvPicPr>
            <a:picLocks noChangeAspect="1"/>
          </p:cNvPicPr>
          <p:nvPr/>
        </p:nvPicPr>
        <p:blipFill>
          <a:blip r:embed="rId1"/>
          <a:stretch>
            <a:fillRect/>
          </a:stretch>
        </p:blipFill>
        <p:spPr>
          <a:xfrm>
            <a:off x="12387326" y="8881618"/>
            <a:ext cx="4300474" cy="897382"/>
          </a:xfrm>
          <a:prstGeom prst="rect">
            <a:avLst/>
          </a:prstGeom>
        </p:spPr>
      </p:pic>
      <p:pic>
        <p:nvPicPr>
          <p:cNvPr id="13" name="Image 0" descr="https://kimi-img.moonshot.cn/pub/slides/okc/6rq3slofmbe7g/mnt/agents/output/template_converted/images/image_1.png"/>
          <p:cNvPicPr>
            <a:picLocks noChangeAspect="1"/>
          </p:cNvPicPr>
          <p:nvPr/>
        </p:nvPicPr>
        <p:blipFill>
          <a:blip r:embed="rId1"/>
          <a:stretch>
            <a:fillRect/>
          </a:stretch>
        </p:blipFill>
        <p:spPr>
          <a:xfrm>
            <a:off x="12514326" y="9008618"/>
            <a:ext cx="4300474" cy="897382"/>
          </a:xfrm>
          <a:prstGeom prst="rect">
            <a:avLst/>
          </a:prstGeom>
        </p:spPr>
      </p:pic>
      <p:pic>
        <p:nvPicPr>
          <p:cNvPr id="14" name="Image 0" descr="https://kimi-img.moonshot.cn/pub/slides/okc/6rq3slofmbe7g/mnt/agents/output/template_converted/images/image_1.png"/>
          <p:cNvPicPr>
            <a:picLocks noChangeAspect="1"/>
          </p:cNvPicPr>
          <p:nvPr/>
        </p:nvPicPr>
        <p:blipFill>
          <a:blip r:embed="rId1"/>
          <a:stretch>
            <a:fillRect/>
          </a:stretch>
        </p:blipFill>
        <p:spPr>
          <a:xfrm>
            <a:off x="6699583" y="4638723"/>
            <a:ext cx="2419017" cy="50477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6080" y="574040"/>
            <a:ext cx="2134235" cy="505460"/>
          </a:xfrm>
          <a:prstGeom prst="rect">
            <a:avLst/>
          </a:prstGeom>
          <a:noFill/>
        </p:spPr>
        <p:txBody>
          <a:bodyPr wrap="square" lIns="0" tIns="0" rIns="0" bIns="0" rtlCol="0" anchor="ctr"/>
          <a:lstStyle/>
          <a:p>
            <a:pPr marL="0" indent="0">
              <a:buNone/>
            </a:pPr>
            <a:r>
              <a:rPr lang="en-US" sz="2800" b="1" dirty="0">
                <a:solidFill>
                  <a:srgbClr val="000000"/>
                </a:solidFill>
                <a:latin typeface="Times New Roman" panose="02020603050405020304" charset="0"/>
                <a:ea typeface="Cambria" panose="02040503050406030204" pitchFamily="34" charset="-122"/>
                <a:cs typeface="Times New Roman" panose="02020603050405020304" charset="0"/>
              </a:rPr>
              <a:t>Introduction:</a:t>
            </a:r>
            <a:endParaRPr lang="en-US" sz="2800" dirty="0">
              <a:latin typeface="Times New Roman" panose="02020603050405020304" charset="0"/>
              <a:cs typeface="Times New Roman" panose="02020603050405020304" charset="0"/>
            </a:endParaRPr>
          </a:p>
        </p:txBody>
      </p:sp>
      <p:sp>
        <p:nvSpPr>
          <p:cNvPr id="3" name="Text 1"/>
          <p:cNvSpPr/>
          <p:nvPr/>
        </p:nvSpPr>
        <p:spPr>
          <a:xfrm>
            <a:off x="528320" y="1249680"/>
            <a:ext cx="7955280" cy="1711960"/>
          </a:xfrm>
          <a:prstGeom prst="rect">
            <a:avLst/>
          </a:prstGeom>
          <a:noFill/>
        </p:spPr>
        <p:txBody>
          <a:bodyPr wrap="square" lIns="0" tIns="0" rIns="0" bIns="0" rtlCol="0" anchor="t"/>
          <a:lstStyle/>
          <a:p>
            <a:pPr marL="0" indent="0">
              <a:spcAft>
                <a:spcPts val="1200"/>
              </a:spcAft>
              <a:buSzPct val="100000"/>
              <a:buNone/>
            </a:pPr>
            <a:r>
              <a:rPr lang="en-US" sz="1500" dirty="0">
                <a:solidFill>
                  <a:srgbClr val="000000"/>
                </a:solidFill>
                <a:latin typeface="Times New Roman" panose="02020603050405020304" charset="0"/>
                <a:ea typeface="Arial" panose="020B0604020202020204" pitchFamily="34" charset="-122"/>
                <a:cs typeface="Times New Roman" panose="02020603050405020304" charset="0"/>
              </a:rPr>
              <a:t>Music store data is essential for understanding customer behavior, revenue trends, and genre preferences. This project uses </a:t>
            </a:r>
            <a:r>
              <a:rPr lang="en-US" sz="1500" b="1" dirty="0">
                <a:solidFill>
                  <a:srgbClr val="000000"/>
                </a:solidFill>
                <a:latin typeface="Times New Roman" panose="02020603050405020304" charset="0"/>
                <a:ea typeface="Arial" panose="020B0604020202020204" pitchFamily="34" charset="-122"/>
                <a:cs typeface="Times New Roman" panose="02020603050405020304" charset="0"/>
              </a:rPr>
              <a:t>MySQL</a:t>
            </a:r>
            <a:r>
              <a:rPr lang="en-US" sz="1500" dirty="0">
                <a:solidFill>
                  <a:srgbClr val="000000"/>
                </a:solidFill>
                <a:latin typeface="Times New Roman" panose="02020603050405020304" charset="0"/>
                <a:ea typeface="Arial" panose="020B0604020202020204" pitchFamily="34" charset="-122"/>
                <a:cs typeface="Times New Roman" panose="02020603050405020304" charset="0"/>
              </a:rPr>
              <a:t> to analyze customer, invoice, track, artist, and genre data from the music store database to generate meaningful business insights.</a:t>
            </a:r>
            <a:endParaRPr lang="en-US" sz="1500" dirty="0">
              <a:latin typeface="Times New Roman" panose="02020603050405020304" charset="0"/>
              <a:cs typeface="Times New Roman" panose="02020603050405020304" charset="0"/>
            </a:endParaRPr>
          </a:p>
          <a:p>
            <a:pPr marL="342900" indent="-342900">
              <a:spcAft>
                <a:spcPts val="1200"/>
              </a:spcAft>
              <a:buSzPct val="100000"/>
              <a:buChar char="•"/>
            </a:pPr>
            <a:r>
              <a:rPr lang="en-US" sz="1500" dirty="0">
                <a:solidFill>
                  <a:srgbClr val="000000"/>
                </a:solidFill>
                <a:latin typeface="Times New Roman" panose="02020603050405020304" charset="0"/>
                <a:ea typeface="Arial" panose="020B0604020202020204" pitchFamily="34" charset="-122"/>
                <a:cs typeface="Times New Roman" panose="02020603050405020304" charset="0"/>
              </a:rPr>
              <a:t>Using SQL queries, the project identifies top customers, highest-revenue cities, popular genres, and country-level spending patterns. The insights support data-driven decision-making and demonstrate the use of SQL for retail analytics and business reporting.</a:t>
            </a:r>
            <a:endParaRPr lang="en-US" sz="1500" dirty="0">
              <a:latin typeface="Times New Roman" panose="02020603050405020304" charset="0"/>
              <a:cs typeface="Times New Roman" panose="02020603050405020304" charset="0"/>
            </a:endParaRPr>
          </a:p>
        </p:txBody>
      </p:sp>
      <p:pic>
        <p:nvPicPr>
          <p:cNvPr id="5" name="Image 0" descr="https://kimi-img.moonshot.cn/pub/slides/okc/6rq3slofmbe7g/mnt/agents/output/template_converted/images/image_1.png"/>
          <p:cNvPicPr>
            <a:picLocks noChangeAspect="1"/>
          </p:cNvPicPr>
          <p:nvPr/>
        </p:nvPicPr>
        <p:blipFill>
          <a:blip r:embed="rId1"/>
          <a:stretch>
            <a:fillRect/>
          </a:stretch>
        </p:blipFill>
        <p:spPr>
          <a:xfrm>
            <a:off x="6664023" y="4638723"/>
            <a:ext cx="2419017" cy="5047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90880" y="514350"/>
            <a:ext cx="3718560" cy="631825"/>
          </a:xfrm>
          <a:prstGeom prst="rect">
            <a:avLst/>
          </a:prstGeom>
          <a:noFill/>
        </p:spPr>
        <p:txBody>
          <a:bodyPr wrap="square" rtlCol="0">
            <a:noAutofit/>
          </a:bodyPr>
          <a:p>
            <a:r>
              <a:rPr lang="en-US" sz="2800" b="1">
                <a:latin typeface="Times New Roman" panose="02020603050405020304" charset="0"/>
                <a:cs typeface="Times New Roman" panose="02020603050405020304" charset="0"/>
              </a:rPr>
              <a:t>DATA DESCRIPTION</a:t>
            </a:r>
            <a:endParaRPr lang="en-US" sz="2800" b="1">
              <a:latin typeface="Times New Roman" panose="02020603050405020304" charset="0"/>
              <a:cs typeface="Times New Roman" panose="02020603050405020304" charset="0"/>
            </a:endParaRPr>
          </a:p>
        </p:txBody>
      </p:sp>
      <p:pic>
        <p:nvPicPr>
          <p:cNvPr id="7" name="Picture 6" descr="ChatGPT Image Sep 29, 2026, 09_30_35 PM"/>
          <p:cNvPicPr>
            <a:picLocks noChangeAspect="1"/>
          </p:cNvPicPr>
          <p:nvPr/>
        </p:nvPicPr>
        <p:blipFill>
          <a:blip r:embed="rId1"/>
          <a:stretch>
            <a:fillRect/>
          </a:stretch>
        </p:blipFill>
        <p:spPr>
          <a:xfrm>
            <a:off x="485775" y="1404620"/>
            <a:ext cx="3606165" cy="2059305"/>
          </a:xfrm>
          <a:prstGeom prst="rect">
            <a:avLst/>
          </a:prstGeom>
        </p:spPr>
      </p:pic>
      <p:pic>
        <p:nvPicPr>
          <p:cNvPr id="3" name="Picture 2" descr="ChatGPT Image Sep 29, 2026, 09_33_08 PM"/>
          <p:cNvPicPr>
            <a:picLocks noChangeAspect="1"/>
          </p:cNvPicPr>
          <p:nvPr/>
        </p:nvPicPr>
        <p:blipFill>
          <a:blip r:embed="rId2"/>
          <a:stretch>
            <a:fillRect/>
          </a:stretch>
        </p:blipFill>
        <p:spPr>
          <a:xfrm>
            <a:off x="4620260" y="1588770"/>
            <a:ext cx="3750310" cy="1875155"/>
          </a:xfrm>
          <a:prstGeom prst="rect">
            <a:avLst/>
          </a:prstGeom>
        </p:spPr>
      </p:pic>
      <p:pic>
        <p:nvPicPr>
          <p:cNvPr id="5" name="Image 0" descr="https://kimi-img.moonshot.cn/pub/slides/okc/6rq3slofmbe7g/mnt/agents/output/template_converted/images/image_1.png"/>
          <p:cNvPicPr>
            <a:picLocks noChangeAspect="1"/>
          </p:cNvPicPr>
          <p:nvPr/>
        </p:nvPicPr>
        <p:blipFill>
          <a:blip r:embed="rId3"/>
          <a:stretch>
            <a:fillRect/>
          </a:stretch>
        </p:blipFill>
        <p:spPr>
          <a:xfrm>
            <a:off x="6672913" y="4638723"/>
            <a:ext cx="2419017" cy="50477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hatGPT Image Sep 29, 2026, 09_34_13 PM"/>
          <p:cNvPicPr>
            <a:picLocks noChangeAspect="1"/>
          </p:cNvPicPr>
          <p:nvPr/>
        </p:nvPicPr>
        <p:blipFill>
          <a:blip r:embed="rId1"/>
          <a:stretch>
            <a:fillRect/>
          </a:stretch>
        </p:blipFill>
        <p:spPr>
          <a:xfrm>
            <a:off x="594995" y="645795"/>
            <a:ext cx="7907020" cy="3953510"/>
          </a:xfrm>
          <a:prstGeom prst="rect">
            <a:avLst/>
          </a:prstGeom>
        </p:spPr>
      </p:pic>
      <p:pic>
        <p:nvPicPr>
          <p:cNvPr id="5" name="Image 0" descr="https://kimi-img.moonshot.cn/pub/slides/okc/6rq3slofmbe7g/mnt/agents/output/template_converted/images/image_1.png"/>
          <p:cNvPicPr>
            <a:picLocks noChangeAspect="1"/>
          </p:cNvPicPr>
          <p:nvPr/>
        </p:nvPicPr>
        <p:blipFill>
          <a:blip r:embed="rId2"/>
          <a:stretch>
            <a:fillRect/>
          </a:stretch>
        </p:blipFill>
        <p:spPr>
          <a:xfrm>
            <a:off x="6672913" y="4638723"/>
            <a:ext cx="2419017" cy="50477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hatGPT Image Sep 29, 2026, 09_36_46 PM"/>
          <p:cNvPicPr>
            <a:picLocks noChangeAspect="1"/>
          </p:cNvPicPr>
          <p:nvPr/>
        </p:nvPicPr>
        <p:blipFill>
          <a:blip r:embed="rId1"/>
          <a:stretch>
            <a:fillRect/>
          </a:stretch>
        </p:blipFill>
        <p:spPr>
          <a:xfrm>
            <a:off x="393065" y="431800"/>
            <a:ext cx="8131810" cy="4065905"/>
          </a:xfrm>
          <a:prstGeom prst="rect">
            <a:avLst/>
          </a:prstGeom>
        </p:spPr>
      </p:pic>
      <p:pic>
        <p:nvPicPr>
          <p:cNvPr id="5" name="Image 0" descr="https://kimi-img.moonshot.cn/pub/slides/okc/6rq3slofmbe7g/mnt/agents/output/template_converted/images/image_1.png"/>
          <p:cNvPicPr>
            <a:picLocks noChangeAspect="1"/>
          </p:cNvPicPr>
          <p:nvPr/>
        </p:nvPicPr>
        <p:blipFill>
          <a:blip r:embed="rId2"/>
          <a:stretch>
            <a:fillRect/>
          </a:stretch>
        </p:blipFill>
        <p:spPr>
          <a:xfrm>
            <a:off x="6679263" y="4645073"/>
            <a:ext cx="2419017" cy="50477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hatGPT Image Sep 29, 2026, 09_39_33 PM"/>
          <p:cNvPicPr>
            <a:picLocks noChangeAspect="1"/>
          </p:cNvPicPr>
          <p:nvPr/>
        </p:nvPicPr>
        <p:blipFill>
          <a:blip r:embed="rId1"/>
          <a:stretch>
            <a:fillRect/>
          </a:stretch>
        </p:blipFill>
        <p:spPr>
          <a:xfrm>
            <a:off x="230505" y="260985"/>
            <a:ext cx="4881245" cy="2440940"/>
          </a:xfrm>
          <a:prstGeom prst="rect">
            <a:avLst/>
          </a:prstGeom>
        </p:spPr>
      </p:pic>
      <p:pic>
        <p:nvPicPr>
          <p:cNvPr id="3" name="Picture 2" descr="ChatGPT Image Sep 29, 2026, 09_40_27 PM"/>
          <p:cNvPicPr>
            <a:picLocks noChangeAspect="1"/>
          </p:cNvPicPr>
          <p:nvPr/>
        </p:nvPicPr>
        <p:blipFill>
          <a:blip r:embed="rId2"/>
          <a:stretch>
            <a:fillRect/>
          </a:stretch>
        </p:blipFill>
        <p:spPr>
          <a:xfrm>
            <a:off x="4179570" y="2548890"/>
            <a:ext cx="4456430" cy="2228215"/>
          </a:xfrm>
          <a:prstGeom prst="rect">
            <a:avLst/>
          </a:prstGeom>
        </p:spPr>
      </p:pic>
      <p:pic>
        <p:nvPicPr>
          <p:cNvPr id="5" name="Image 0" descr="https://kimi-img.moonshot.cn/pub/slides/okc/6rq3slofmbe7g/mnt/agents/output/template_converted/images/image_1.png"/>
          <p:cNvPicPr>
            <a:picLocks noChangeAspect="1"/>
          </p:cNvPicPr>
          <p:nvPr/>
        </p:nvPicPr>
        <p:blipFill>
          <a:blip r:embed="rId3"/>
          <a:stretch>
            <a:fillRect/>
          </a:stretch>
        </p:blipFill>
        <p:spPr>
          <a:xfrm>
            <a:off x="6672913" y="4638723"/>
            <a:ext cx="2419017" cy="50477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hatGPT Image Sep 29, 2026, 09_42_01 PM"/>
          <p:cNvPicPr>
            <a:picLocks noChangeAspect="1"/>
          </p:cNvPicPr>
          <p:nvPr/>
        </p:nvPicPr>
        <p:blipFill>
          <a:blip r:embed="rId1"/>
          <a:stretch>
            <a:fillRect/>
          </a:stretch>
        </p:blipFill>
        <p:spPr>
          <a:xfrm>
            <a:off x="680085" y="753110"/>
            <a:ext cx="7621270" cy="3810635"/>
          </a:xfrm>
          <a:prstGeom prst="rect">
            <a:avLst/>
          </a:prstGeom>
        </p:spPr>
      </p:pic>
      <p:pic>
        <p:nvPicPr>
          <p:cNvPr id="5" name="Image 0" descr="https://kimi-img.moonshot.cn/pub/slides/okc/6rq3slofmbe7g/mnt/agents/output/template_converted/images/image_1.png"/>
          <p:cNvPicPr>
            <a:picLocks noChangeAspect="1"/>
          </p:cNvPicPr>
          <p:nvPr/>
        </p:nvPicPr>
        <p:blipFill>
          <a:blip r:embed="rId2"/>
          <a:stretch>
            <a:fillRect/>
          </a:stretch>
        </p:blipFill>
        <p:spPr>
          <a:xfrm>
            <a:off x="6672913" y="4638723"/>
            <a:ext cx="2419017" cy="50477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hatGPT Image Sep 29, 2026, 09_43_23 PM"/>
          <p:cNvPicPr>
            <a:picLocks noChangeAspect="1"/>
          </p:cNvPicPr>
          <p:nvPr/>
        </p:nvPicPr>
        <p:blipFill>
          <a:blip r:embed="rId1"/>
          <a:stretch>
            <a:fillRect/>
          </a:stretch>
        </p:blipFill>
        <p:spPr>
          <a:xfrm>
            <a:off x="334010" y="493395"/>
            <a:ext cx="8313420" cy="4156710"/>
          </a:xfrm>
          <a:prstGeom prst="rect">
            <a:avLst/>
          </a:prstGeom>
        </p:spPr>
      </p:pic>
      <p:pic>
        <p:nvPicPr>
          <p:cNvPr id="5" name="Image 0" descr="https://kimi-img.moonshot.cn/pub/slides/okc/6rq3slofmbe7g/mnt/agents/output/template_converted/images/image_1.png"/>
          <p:cNvPicPr>
            <a:picLocks noChangeAspect="1"/>
          </p:cNvPicPr>
          <p:nvPr/>
        </p:nvPicPr>
        <p:blipFill>
          <a:blip r:embed="rId2"/>
          <a:stretch>
            <a:fillRect/>
          </a:stretch>
        </p:blipFill>
        <p:spPr>
          <a:xfrm>
            <a:off x="6672913" y="4638723"/>
            <a:ext cx="2419017" cy="50477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hatGPT Image Sep 29, 2026, 09_45_46 PM"/>
          <p:cNvPicPr>
            <a:picLocks noChangeAspect="1"/>
          </p:cNvPicPr>
          <p:nvPr/>
        </p:nvPicPr>
        <p:blipFill>
          <a:blip r:embed="rId1"/>
          <a:stretch>
            <a:fillRect/>
          </a:stretch>
        </p:blipFill>
        <p:spPr>
          <a:xfrm>
            <a:off x="1680210" y="209550"/>
            <a:ext cx="6986905" cy="3493770"/>
          </a:xfrm>
          <a:prstGeom prst="rect">
            <a:avLst/>
          </a:prstGeom>
        </p:spPr>
      </p:pic>
      <p:pic>
        <p:nvPicPr>
          <p:cNvPr id="3" name="Picture 2" descr="ChatGPT Image Sep 29, 2026, 09_46_27 PM"/>
          <p:cNvPicPr>
            <a:picLocks noChangeAspect="1"/>
          </p:cNvPicPr>
          <p:nvPr/>
        </p:nvPicPr>
        <p:blipFill>
          <a:blip r:embed="rId2"/>
          <a:srcRect t="17013" b="15710"/>
          <a:stretch>
            <a:fillRect/>
          </a:stretch>
        </p:blipFill>
        <p:spPr>
          <a:xfrm>
            <a:off x="280670" y="3189605"/>
            <a:ext cx="5553710" cy="1868170"/>
          </a:xfrm>
          <a:prstGeom prst="rect">
            <a:avLst/>
          </a:prstGeom>
        </p:spPr>
      </p:pic>
      <p:pic>
        <p:nvPicPr>
          <p:cNvPr id="5" name="Image 0" descr="https://kimi-img.moonshot.cn/pub/slides/okc/6rq3slofmbe7g/mnt/agents/output/template_converted/images/image_1.png"/>
          <p:cNvPicPr>
            <a:picLocks noChangeAspect="1"/>
          </p:cNvPicPr>
          <p:nvPr/>
        </p:nvPicPr>
        <p:blipFill>
          <a:blip r:embed="rId3"/>
          <a:stretch>
            <a:fillRect/>
          </a:stretch>
        </p:blipFill>
        <p:spPr>
          <a:xfrm>
            <a:off x="6672913" y="4638723"/>
            <a:ext cx="2419017" cy="50477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ChatGPT Image Sep 29, 2026, 09_49_12 PM"/>
          <p:cNvPicPr>
            <a:picLocks noChangeAspect="1"/>
          </p:cNvPicPr>
          <p:nvPr/>
        </p:nvPicPr>
        <p:blipFill>
          <a:blip r:embed="rId1"/>
          <a:stretch>
            <a:fillRect/>
          </a:stretch>
        </p:blipFill>
        <p:spPr>
          <a:xfrm>
            <a:off x="634365" y="354330"/>
            <a:ext cx="7331710" cy="3665855"/>
          </a:xfrm>
          <a:prstGeom prst="rect">
            <a:avLst/>
          </a:prstGeom>
        </p:spPr>
      </p:pic>
      <p:pic>
        <p:nvPicPr>
          <p:cNvPr id="5" name="Image 0" descr="https://kimi-img.moonshot.cn/pub/slides/okc/6rq3slofmbe7g/mnt/agents/output/template_converted/images/image_1.png"/>
          <p:cNvPicPr>
            <a:picLocks noChangeAspect="1"/>
          </p:cNvPicPr>
          <p:nvPr/>
        </p:nvPicPr>
        <p:blipFill>
          <a:blip r:embed="rId2"/>
          <a:stretch>
            <a:fillRect/>
          </a:stretch>
        </p:blipFill>
        <p:spPr>
          <a:xfrm>
            <a:off x="6672913" y="4638723"/>
            <a:ext cx="2419017" cy="50477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10820"/>
            <a:ext cx="2179320" cy="640080"/>
          </a:xfrm>
          <a:prstGeom prst="rect">
            <a:avLst/>
          </a:prstGeom>
          <a:noFill/>
        </p:spPr>
        <p:txBody>
          <a:bodyPr wrap="square" lIns="0" tIns="0" rIns="0" bIns="0" rtlCol="0" anchor="ctr"/>
          <a:lstStyle/>
          <a:p>
            <a:pPr marL="0" indent="0">
              <a:buNone/>
            </a:pPr>
            <a:r>
              <a:rPr lang="en-US" sz="2800" b="1" dirty="0">
                <a:solidFill>
                  <a:srgbClr val="000000"/>
                </a:solidFill>
                <a:latin typeface="Cambria" panose="02040503050406030204" pitchFamily="34" charset="0"/>
                <a:ea typeface="Cambria" panose="02040503050406030204" pitchFamily="34" charset="-122"/>
                <a:cs typeface="Cambria" panose="02040503050406030204" pitchFamily="34" charset="-120"/>
              </a:rPr>
              <a:t>ER Diagram:</a:t>
            </a:r>
            <a:endParaRPr lang="en-US" sz="2800" dirty="0"/>
          </a:p>
        </p:txBody>
      </p:sp>
      <p:pic>
        <p:nvPicPr>
          <p:cNvPr id="47" name="Picture 46" descr="ER-diagram"/>
          <p:cNvPicPr>
            <a:picLocks noChangeAspect="1"/>
          </p:cNvPicPr>
          <p:nvPr/>
        </p:nvPicPr>
        <p:blipFill>
          <a:blip r:embed="rId1"/>
          <a:stretch>
            <a:fillRect/>
          </a:stretch>
        </p:blipFill>
        <p:spPr>
          <a:xfrm>
            <a:off x="457200" y="960120"/>
            <a:ext cx="5722620" cy="3670935"/>
          </a:xfrm>
          <a:prstGeom prst="rect">
            <a:avLst/>
          </a:prstGeom>
        </p:spPr>
      </p:pic>
      <p:pic>
        <p:nvPicPr>
          <p:cNvPr id="48" name="Image 0" descr="https://kimi-img.moonshot.cn/pub/slides/okc/6rq3slofmbe7g/mnt/agents/output/template_converted/images/image_1.png"/>
          <p:cNvPicPr>
            <a:picLocks noChangeAspect="1"/>
          </p:cNvPicPr>
          <p:nvPr/>
        </p:nvPicPr>
        <p:blipFill>
          <a:blip r:embed="rId2"/>
          <a:stretch>
            <a:fillRect/>
          </a:stretch>
        </p:blipFill>
        <p:spPr>
          <a:xfrm>
            <a:off x="6637353" y="4638723"/>
            <a:ext cx="2419017" cy="504777"/>
          </a:xfrm>
          <a:prstGeom prst="rect">
            <a:avLst/>
          </a:prstGeom>
        </p:spPr>
      </p:pic>
      <p:pic>
        <p:nvPicPr>
          <p:cNvPr id="3" name="Picture 2"/>
          <p:cNvPicPr>
            <a:picLocks noChangeAspect="1"/>
          </p:cNvPicPr>
          <p:nvPr/>
        </p:nvPicPr>
        <p:blipFill>
          <a:blip r:embed="rId3"/>
          <a:stretch>
            <a:fillRect/>
          </a:stretch>
        </p:blipFill>
        <p:spPr>
          <a:xfrm>
            <a:off x="6457315" y="1117600"/>
            <a:ext cx="2148840" cy="24460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3718560" cy="640080"/>
          </a:xfrm>
          <a:prstGeom prst="rect">
            <a:avLst/>
          </a:prstGeom>
          <a:noFill/>
        </p:spPr>
        <p:txBody>
          <a:bodyPr wrap="square" lIns="0" tIns="0" rIns="0" bIns="0" rtlCol="0" anchor="ctr"/>
          <a:lstStyle/>
          <a:p>
            <a:pPr marL="0" indent="0">
              <a:buNone/>
            </a:pPr>
            <a:r>
              <a:rPr lang="en-US" sz="2800" b="1" dirty="0">
                <a:solidFill>
                  <a:srgbClr val="000000"/>
                </a:solidFill>
                <a:latin typeface="Times New Roman" panose="02020603050405020304" charset="0"/>
                <a:ea typeface="Cambria" panose="02040503050406030204" pitchFamily="34" charset="-122"/>
                <a:cs typeface="Times New Roman" panose="02020603050405020304" charset="0"/>
              </a:rPr>
              <a:t>Objective of the Project:</a:t>
            </a:r>
            <a:endParaRPr lang="en-US" sz="2800" dirty="0">
              <a:latin typeface="Times New Roman" panose="02020603050405020304" charset="0"/>
              <a:cs typeface="Times New Roman" panose="02020603050405020304" charset="0"/>
            </a:endParaRPr>
          </a:p>
        </p:txBody>
      </p:sp>
      <p:sp>
        <p:nvSpPr>
          <p:cNvPr id="3" name="Text 1"/>
          <p:cNvSpPr/>
          <p:nvPr/>
        </p:nvSpPr>
        <p:spPr>
          <a:xfrm>
            <a:off x="640080" y="1097280"/>
            <a:ext cx="7955280" cy="1826260"/>
          </a:xfrm>
          <a:prstGeom prst="rect">
            <a:avLst/>
          </a:prstGeom>
          <a:noFill/>
        </p:spPr>
        <p:txBody>
          <a:bodyPr wrap="square" lIns="0" tIns="0" rIns="0" bIns="0" rtlCol="0" anchor="t"/>
          <a:lstStyle/>
          <a:p>
            <a:pPr marL="342900" indent="-342900">
              <a:spcAft>
                <a:spcPts val="400"/>
              </a:spcAft>
              <a:buSzPct val="100000"/>
              <a:buChar char="•"/>
            </a:pPr>
            <a:r>
              <a:rPr lang="en-US" sz="1500" dirty="0">
                <a:solidFill>
                  <a:srgbClr val="000000"/>
                </a:solidFill>
                <a:latin typeface="Times New Roman" panose="02020603050405020304" charset="0"/>
                <a:ea typeface="Arial" panose="020B0604020202020204" pitchFamily="34" charset="-122"/>
                <a:cs typeface="Times New Roman" panose="02020603050405020304" charset="0"/>
              </a:rPr>
              <a:t>To analyze music store data using MySQL and generate meaningful business insights.</a:t>
            </a:r>
            <a:endParaRPr lang="en-US" sz="1500" dirty="0">
              <a:latin typeface="Times New Roman" panose="02020603050405020304" charset="0"/>
              <a:cs typeface="Times New Roman" panose="02020603050405020304" charset="0"/>
            </a:endParaRPr>
          </a:p>
          <a:p>
            <a:pPr marL="342900" indent="-342900">
              <a:spcAft>
                <a:spcPts val="400"/>
              </a:spcAft>
              <a:buSzPct val="100000"/>
              <a:buChar char="•"/>
            </a:pPr>
            <a:r>
              <a:rPr lang="en-US" sz="1500" dirty="0">
                <a:solidFill>
                  <a:srgbClr val="000000"/>
                </a:solidFill>
                <a:latin typeface="Times New Roman" panose="02020603050405020304" charset="0"/>
                <a:ea typeface="Arial" panose="020B0604020202020204" pitchFamily="34" charset="-122"/>
                <a:cs typeface="Times New Roman" panose="02020603050405020304" charset="0"/>
              </a:rPr>
              <a:t>To examine customer distribution, revenue patterns, and genre preferences across regions.</a:t>
            </a:r>
            <a:endParaRPr lang="en-US" sz="1500" dirty="0">
              <a:latin typeface="Times New Roman" panose="02020603050405020304" charset="0"/>
              <a:cs typeface="Times New Roman" panose="02020603050405020304" charset="0"/>
            </a:endParaRPr>
          </a:p>
          <a:p>
            <a:pPr marL="342900" indent="-342900">
              <a:spcAft>
                <a:spcPts val="400"/>
              </a:spcAft>
              <a:buSzPct val="100000"/>
              <a:buChar char="•"/>
            </a:pPr>
            <a:r>
              <a:rPr lang="en-US" sz="1500" dirty="0">
                <a:solidFill>
                  <a:srgbClr val="000000"/>
                </a:solidFill>
                <a:latin typeface="Times New Roman" panose="02020603050405020304" charset="0"/>
                <a:ea typeface="Arial" panose="020B0604020202020204" pitchFamily="34" charset="-122"/>
                <a:cs typeface="Times New Roman" panose="02020603050405020304" charset="0"/>
              </a:rPr>
              <a:t>To analyze invoice and sales data for effective revenue planning.</a:t>
            </a:r>
            <a:endParaRPr lang="en-US" sz="1500" dirty="0">
              <a:latin typeface="Times New Roman" panose="02020603050405020304" charset="0"/>
              <a:cs typeface="Times New Roman" panose="02020603050405020304" charset="0"/>
            </a:endParaRPr>
          </a:p>
          <a:p>
            <a:pPr marL="342900" indent="-342900">
              <a:spcAft>
                <a:spcPts val="400"/>
              </a:spcAft>
              <a:buSzPct val="100000"/>
              <a:buChar char="•"/>
            </a:pPr>
            <a:r>
              <a:rPr lang="en-US" sz="1500" dirty="0">
                <a:solidFill>
                  <a:srgbClr val="000000"/>
                </a:solidFill>
                <a:latin typeface="Times New Roman" panose="02020603050405020304" charset="0"/>
                <a:ea typeface="Arial" panose="020B0604020202020204" pitchFamily="34" charset="-122"/>
                <a:cs typeface="Times New Roman" panose="02020603050405020304" charset="0"/>
              </a:rPr>
              <a:t>To identify top customers, popular artists, and trending genres.</a:t>
            </a:r>
            <a:endParaRPr lang="en-US" sz="1500" dirty="0">
              <a:latin typeface="Times New Roman" panose="02020603050405020304" charset="0"/>
              <a:cs typeface="Times New Roman" panose="02020603050405020304" charset="0"/>
            </a:endParaRPr>
          </a:p>
          <a:p>
            <a:pPr marL="342900" indent="-342900">
              <a:spcAft>
                <a:spcPts val="400"/>
              </a:spcAft>
              <a:buSzPct val="100000"/>
              <a:buChar char="•"/>
            </a:pPr>
            <a:r>
              <a:rPr lang="en-US" sz="1500" dirty="0">
                <a:solidFill>
                  <a:srgbClr val="000000"/>
                </a:solidFill>
                <a:latin typeface="Times New Roman" panose="02020603050405020304" charset="0"/>
                <a:ea typeface="Arial" panose="020B0604020202020204" pitchFamily="34" charset="-122"/>
                <a:cs typeface="Times New Roman" panose="02020603050405020304" charset="0"/>
              </a:rPr>
              <a:t>To evaluate country-level trends and their impact on revenue.</a:t>
            </a:r>
            <a:endParaRPr lang="en-US" sz="1500" dirty="0">
              <a:latin typeface="Times New Roman" panose="02020603050405020304" charset="0"/>
              <a:cs typeface="Times New Roman" panose="02020603050405020304" charset="0"/>
            </a:endParaRPr>
          </a:p>
          <a:p>
            <a:pPr marL="342900" indent="-342900">
              <a:spcAft>
                <a:spcPts val="400"/>
              </a:spcAft>
              <a:buSzPct val="100000"/>
              <a:buChar char="•"/>
            </a:pPr>
            <a:r>
              <a:rPr lang="en-US" sz="1500" dirty="0">
                <a:solidFill>
                  <a:srgbClr val="000000"/>
                </a:solidFill>
                <a:latin typeface="Times New Roman" panose="02020603050405020304" charset="0"/>
                <a:ea typeface="Arial" panose="020B0604020202020204" pitchFamily="34" charset="-122"/>
                <a:cs typeface="Times New Roman" panose="02020603050405020304" charset="0"/>
              </a:rPr>
              <a:t>To use SQL queries for data extraction, aggregation, and reporting.</a:t>
            </a:r>
            <a:endParaRPr lang="en-US" sz="1500" dirty="0">
              <a:latin typeface="Times New Roman" panose="02020603050405020304" charset="0"/>
              <a:cs typeface="Times New Roman" panose="02020603050405020304" charset="0"/>
            </a:endParaRPr>
          </a:p>
          <a:p>
            <a:pPr indent="0">
              <a:spcAft>
                <a:spcPts val="400"/>
              </a:spcAft>
              <a:buSzPct val="100000"/>
              <a:buNone/>
            </a:pPr>
            <a:endParaRPr lang="en-US" sz="1500" dirty="0">
              <a:latin typeface="Times New Roman" panose="02020603050405020304" charset="0"/>
              <a:cs typeface="Times New Roman" panose="02020603050405020304" charset="0"/>
            </a:endParaRPr>
          </a:p>
        </p:txBody>
      </p:sp>
      <p:pic>
        <p:nvPicPr>
          <p:cNvPr id="5" name="Image 0" descr="https://kimi-img.moonshot.cn/pub/slides/okc/6rq3slofmbe7g/mnt/agents/output/template_converted/images/image_1.png"/>
          <p:cNvPicPr>
            <a:picLocks noChangeAspect="1"/>
          </p:cNvPicPr>
          <p:nvPr/>
        </p:nvPicPr>
        <p:blipFill>
          <a:blip r:embed="rId1"/>
          <a:stretch>
            <a:fillRect/>
          </a:stretch>
        </p:blipFill>
        <p:spPr>
          <a:xfrm>
            <a:off x="6637353" y="4638723"/>
            <a:ext cx="2419017" cy="50477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48920" y="1382395"/>
            <a:ext cx="4505960" cy="339725"/>
          </a:xfrm>
          <a:prstGeom prst="rect">
            <a:avLst/>
          </a:prstGeom>
          <a:noFill/>
        </p:spPr>
        <p:txBody>
          <a:bodyPr wrap="square" lIns="0" tIns="0" rIns="0" bIns="0" rtlCol="0" anchor="t">
            <a:normAutofit/>
          </a:bodyPr>
          <a:lstStyle/>
          <a:p>
            <a:pPr marL="0" indent="0">
              <a:buNone/>
            </a:pPr>
            <a:r>
              <a:rPr lang="en-US" sz="1400" b="1" dirty="0">
                <a:solidFill>
                  <a:srgbClr val="000000"/>
                </a:solidFill>
                <a:latin typeface="Cambria" panose="02040503050406030204" pitchFamily="34" charset="0"/>
                <a:ea typeface="Cambria" panose="02040503050406030204" pitchFamily="34" charset="-122"/>
                <a:cs typeface="Cambria" panose="02040503050406030204" pitchFamily="34" charset="-120"/>
              </a:rPr>
              <a:t>1.Who is the senior-most employee based on job title?</a:t>
            </a:r>
            <a:endParaRPr lang="en-US" sz="1400" dirty="0"/>
          </a:p>
        </p:txBody>
      </p:sp>
      <p:sp>
        <p:nvSpPr>
          <p:cNvPr id="3" name="Text 1"/>
          <p:cNvSpPr/>
          <p:nvPr/>
        </p:nvSpPr>
        <p:spPr>
          <a:xfrm>
            <a:off x="640080" y="408305"/>
            <a:ext cx="3931285" cy="323850"/>
          </a:xfrm>
          <a:prstGeom prst="rect">
            <a:avLst/>
          </a:prstGeom>
          <a:noFill/>
        </p:spPr>
        <p:txBody>
          <a:bodyPr wrap="square" lIns="0" tIns="0" rIns="0" bIns="0" rtlCol="0" anchor="ctr"/>
          <a:lstStyle/>
          <a:p>
            <a:pPr marL="0" indent="0">
              <a:buNone/>
            </a:pPr>
            <a:r>
              <a:rPr lang="en-US" sz="2800" b="1" dirty="0">
                <a:solidFill>
                  <a:srgbClr val="000000"/>
                </a:solidFill>
                <a:latin typeface="Cambria" panose="02040503050406030204" pitchFamily="34" charset="0"/>
                <a:ea typeface="Cambria" panose="02040503050406030204" pitchFamily="34" charset="-122"/>
                <a:cs typeface="Cambria" panose="02040503050406030204" pitchFamily="34" charset="-120"/>
              </a:rPr>
              <a:t>Key Analytical Queries</a:t>
            </a:r>
            <a:endParaRPr lang="en-US" sz="2800" b="1" dirty="0">
              <a:solidFill>
                <a:srgbClr val="000000"/>
              </a:solidFill>
              <a:latin typeface="Cambria" panose="02040503050406030204" pitchFamily="34" charset="0"/>
              <a:ea typeface="Cambria" panose="02040503050406030204" pitchFamily="34" charset="-122"/>
              <a:cs typeface="Cambria" panose="02040503050406030204" pitchFamily="34" charset="-120"/>
            </a:endParaRPr>
          </a:p>
        </p:txBody>
      </p:sp>
      <p:sp>
        <p:nvSpPr>
          <p:cNvPr id="6" name="Text 4"/>
          <p:cNvSpPr/>
          <p:nvPr/>
        </p:nvSpPr>
        <p:spPr>
          <a:xfrm>
            <a:off x="4923790" y="1421130"/>
            <a:ext cx="1108075" cy="353695"/>
          </a:xfrm>
          <a:prstGeom prst="rect">
            <a:avLst/>
          </a:prstGeom>
          <a:noFill/>
        </p:spPr>
        <p:txBody>
          <a:bodyPr wrap="square" lIns="0" tIns="0" rIns="0" bIns="0" rtlCol="0" anchor="ctr"/>
          <a:lstStyle/>
          <a:p>
            <a:pPr marL="0" indent="0">
              <a:buNone/>
            </a:pPr>
            <a:r>
              <a:rPr lang="en-US" sz="1800" b="1" dirty="0">
                <a:solidFill>
                  <a:srgbClr val="000000"/>
                </a:solidFill>
                <a:latin typeface="Cambria" panose="02040503050406030204" pitchFamily="34" charset="0"/>
                <a:ea typeface="Cambria" panose="02040503050406030204" pitchFamily="34" charset="-122"/>
                <a:cs typeface="Cambria" panose="02040503050406030204" pitchFamily="34" charset="-120"/>
              </a:rPr>
              <a:t>Output:</a:t>
            </a:r>
            <a:endParaRPr lang="en-US" sz="1800" dirty="0"/>
          </a:p>
        </p:txBody>
      </p:sp>
      <p:sp>
        <p:nvSpPr>
          <p:cNvPr id="9" name="Text 7"/>
          <p:cNvSpPr/>
          <p:nvPr/>
        </p:nvSpPr>
        <p:spPr>
          <a:xfrm>
            <a:off x="457200" y="3383280"/>
            <a:ext cx="8229600" cy="320040"/>
          </a:xfrm>
          <a:prstGeom prst="rect">
            <a:avLst/>
          </a:prstGeom>
          <a:noFill/>
        </p:spPr>
        <p:txBody>
          <a:bodyPr wrap="square" lIns="0" tIns="0" rIns="0" bIns="0" rtlCol="0" anchor="ctr"/>
          <a:lstStyle/>
          <a:p>
            <a:pPr marL="0" indent="0">
              <a:buNone/>
            </a:pPr>
            <a:r>
              <a:rPr lang="en-US" sz="1800" b="1" dirty="0">
                <a:solidFill>
                  <a:srgbClr val="000000"/>
                </a:solidFill>
                <a:latin typeface="Cambria" panose="02040503050406030204" pitchFamily="34" charset="0"/>
                <a:ea typeface="Cambria" panose="02040503050406030204" pitchFamily="34" charset="-122"/>
                <a:cs typeface="Cambria" panose="02040503050406030204" pitchFamily="34" charset="-120"/>
              </a:rPr>
              <a:t>Key Insight:</a:t>
            </a:r>
            <a:endParaRPr lang="en-US" sz="1800" dirty="0"/>
          </a:p>
        </p:txBody>
      </p:sp>
      <p:sp>
        <p:nvSpPr>
          <p:cNvPr id="10" name="Text 8"/>
          <p:cNvSpPr/>
          <p:nvPr/>
        </p:nvSpPr>
        <p:spPr>
          <a:xfrm>
            <a:off x="640080" y="3749040"/>
            <a:ext cx="8229600" cy="914400"/>
          </a:xfrm>
          <a:prstGeom prst="rect">
            <a:avLst/>
          </a:prstGeom>
          <a:noFill/>
        </p:spPr>
        <p:txBody>
          <a:bodyPr wrap="square" lIns="0" tIns="0" rIns="0" bIns="0" rtlCol="0" anchor="t"/>
          <a:lstStyle/>
          <a:p>
            <a:pPr marL="342900" indent="-342900">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This analysis helps identify the top-most employee in the hierarchy  the one with no manager (reports_to IS NULL). It clarifies the leadership structure of the music store and supports reporting, payroll, and succession planning.</a:t>
            </a:r>
            <a:endParaRPr lang="en-US" sz="1400" dirty="0"/>
          </a:p>
        </p:txBody>
      </p:sp>
      <p:pic>
        <p:nvPicPr>
          <p:cNvPr id="12" name="Picture 11"/>
          <p:cNvPicPr>
            <a:picLocks noChangeAspect="1"/>
          </p:cNvPicPr>
          <p:nvPr/>
        </p:nvPicPr>
        <p:blipFill>
          <a:blip r:embed="rId1"/>
          <a:stretch>
            <a:fillRect/>
          </a:stretch>
        </p:blipFill>
        <p:spPr>
          <a:xfrm>
            <a:off x="381000" y="1832610"/>
            <a:ext cx="4191000" cy="739140"/>
          </a:xfrm>
          <a:prstGeom prst="rect">
            <a:avLst/>
          </a:prstGeom>
        </p:spPr>
      </p:pic>
      <p:pic>
        <p:nvPicPr>
          <p:cNvPr id="4" name="Image 0" descr="https://kimi-img.moonshot.cn/pub/slides/okc/6rq3slofmbe7g/mnt/agents/output/template_converted/images/image_1.png"/>
          <p:cNvPicPr>
            <a:picLocks noChangeAspect="1"/>
          </p:cNvPicPr>
          <p:nvPr/>
        </p:nvPicPr>
        <p:blipFill>
          <a:blip r:embed="rId2"/>
          <a:stretch>
            <a:fillRect/>
          </a:stretch>
        </p:blipFill>
        <p:spPr>
          <a:xfrm>
            <a:off x="6628463" y="4638723"/>
            <a:ext cx="2419017" cy="504777"/>
          </a:xfrm>
          <a:prstGeom prst="rect">
            <a:avLst/>
          </a:prstGeom>
        </p:spPr>
      </p:pic>
      <p:pic>
        <p:nvPicPr>
          <p:cNvPr id="5" name="Picture 4"/>
          <p:cNvPicPr>
            <a:picLocks noChangeAspect="1"/>
          </p:cNvPicPr>
          <p:nvPr/>
        </p:nvPicPr>
        <p:blipFill>
          <a:blip r:embed="rId3"/>
          <a:stretch>
            <a:fillRect/>
          </a:stretch>
        </p:blipFill>
        <p:spPr>
          <a:xfrm>
            <a:off x="4968240" y="1914525"/>
            <a:ext cx="3901440" cy="5334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79120" y="1138555"/>
            <a:ext cx="3597275" cy="334645"/>
          </a:xfrm>
          <a:prstGeom prst="rect">
            <a:avLst/>
          </a:prstGeom>
          <a:noFill/>
        </p:spPr>
        <p:txBody>
          <a:bodyPr wrap="square" lIns="0" tIns="0" rIns="0" bIns="0" rtlCol="0" anchor="t">
            <a:normAutofit/>
          </a:bodyPr>
          <a:lstStyle/>
          <a:p>
            <a:pPr marL="0" indent="0">
              <a:buNone/>
            </a:pPr>
            <a:r>
              <a:rPr lang="en-US" sz="1400" b="1" dirty="0">
                <a:solidFill>
                  <a:srgbClr val="000000"/>
                </a:solidFill>
                <a:latin typeface="Times New Roman" panose="02020603050405020304" charset="0"/>
                <a:ea typeface="Cambria" panose="02040503050406030204" pitchFamily="34" charset="-122"/>
                <a:cs typeface="Times New Roman" panose="02020603050405020304" charset="0"/>
              </a:rPr>
              <a:t>2.Which countries have the most Invoices?</a:t>
            </a:r>
            <a:endParaRPr lang="en-US" sz="1400" b="1" dirty="0">
              <a:solidFill>
                <a:srgbClr val="000000"/>
              </a:solidFill>
              <a:latin typeface="Times New Roman" panose="02020603050405020304" charset="0"/>
              <a:ea typeface="Cambria" panose="02040503050406030204" pitchFamily="34" charset="-122"/>
              <a:cs typeface="Times New Roman" panose="02020603050405020304" charset="0"/>
            </a:endParaRPr>
          </a:p>
        </p:txBody>
      </p:sp>
      <p:sp>
        <p:nvSpPr>
          <p:cNvPr id="6" name="Text 4"/>
          <p:cNvSpPr/>
          <p:nvPr/>
        </p:nvSpPr>
        <p:spPr>
          <a:xfrm>
            <a:off x="5262880" y="1588770"/>
            <a:ext cx="873760" cy="320040"/>
          </a:xfrm>
          <a:prstGeom prst="rect">
            <a:avLst/>
          </a:prstGeom>
          <a:noFill/>
        </p:spPr>
        <p:txBody>
          <a:bodyPr wrap="square" lIns="0" tIns="0" rIns="0" bIns="0" rtlCol="0" anchor="ctr"/>
          <a:lstStyle/>
          <a:p>
            <a:pPr marL="0" indent="0">
              <a:buNone/>
            </a:pPr>
            <a:r>
              <a:rPr lang="en-US" sz="1800" b="1" dirty="0">
                <a:solidFill>
                  <a:srgbClr val="000000"/>
                </a:solidFill>
                <a:latin typeface="Times New Roman" panose="02020603050405020304" charset="0"/>
                <a:ea typeface="Cambria" panose="02040503050406030204" pitchFamily="34" charset="-122"/>
                <a:cs typeface="Times New Roman" panose="02020603050405020304" charset="0"/>
              </a:rPr>
              <a:t>Output:</a:t>
            </a:r>
            <a:endParaRPr lang="en-US" sz="1800" dirty="0">
              <a:latin typeface="Times New Roman" panose="02020603050405020304" charset="0"/>
              <a:cs typeface="Times New Roman" panose="02020603050405020304" charset="0"/>
            </a:endParaRPr>
          </a:p>
        </p:txBody>
      </p:sp>
      <p:sp>
        <p:nvSpPr>
          <p:cNvPr id="9" name="Text 7"/>
          <p:cNvSpPr/>
          <p:nvPr/>
        </p:nvSpPr>
        <p:spPr>
          <a:xfrm>
            <a:off x="457200" y="3383280"/>
            <a:ext cx="8229600" cy="320040"/>
          </a:xfrm>
          <a:prstGeom prst="rect">
            <a:avLst/>
          </a:prstGeom>
          <a:noFill/>
        </p:spPr>
        <p:txBody>
          <a:bodyPr wrap="square" lIns="0" tIns="0" rIns="0" bIns="0" rtlCol="0" anchor="ctr"/>
          <a:lstStyle/>
          <a:p>
            <a:pPr marL="0" indent="0">
              <a:buNone/>
            </a:pPr>
            <a:r>
              <a:rPr lang="en-US" sz="1800" b="1" dirty="0">
                <a:solidFill>
                  <a:srgbClr val="000000"/>
                </a:solidFill>
                <a:latin typeface="Times New Roman" panose="02020603050405020304" charset="0"/>
                <a:ea typeface="Cambria" panose="02040503050406030204" pitchFamily="34" charset="-122"/>
                <a:cs typeface="Times New Roman" panose="02020603050405020304" charset="0"/>
              </a:rPr>
              <a:t>Key Insight:</a:t>
            </a:r>
            <a:endParaRPr lang="en-US" sz="1800" dirty="0">
              <a:latin typeface="Times New Roman" panose="02020603050405020304" charset="0"/>
              <a:cs typeface="Times New Roman" panose="02020603050405020304" charset="0"/>
            </a:endParaRPr>
          </a:p>
        </p:txBody>
      </p:sp>
      <p:sp>
        <p:nvSpPr>
          <p:cNvPr id="10" name="Text 8"/>
          <p:cNvSpPr/>
          <p:nvPr/>
        </p:nvSpPr>
        <p:spPr>
          <a:xfrm>
            <a:off x="640080" y="3749040"/>
            <a:ext cx="8229600" cy="676275"/>
          </a:xfrm>
          <a:prstGeom prst="rect">
            <a:avLst/>
          </a:prstGeom>
          <a:noFill/>
        </p:spPr>
        <p:txBody>
          <a:bodyPr wrap="square" lIns="0" tIns="0" rIns="0" bIns="0" rtlCol="0" anchor="t"/>
          <a:lstStyle/>
          <a:p>
            <a:pPr marL="342900" indent="-342900">
              <a:buSzPct val="100000"/>
              <a:buChar char="•"/>
            </a:pPr>
            <a:r>
              <a:rPr lang="en-US" sz="1400" dirty="0">
                <a:solidFill>
                  <a:srgbClr val="000000"/>
                </a:solidFill>
                <a:latin typeface="Times New Roman" panose="02020603050405020304" charset="0"/>
                <a:ea typeface="Arial" panose="020B0604020202020204" pitchFamily="34" charset="-122"/>
                <a:cs typeface="Times New Roman" panose="02020603050405020304" charset="0"/>
              </a:rPr>
              <a:t>The USA leads with the highest number of invoices, followed by other key markets. This geographic concentration helps prioritize regional marketing, allocate inventory, and design country-specific promotional campaigns for maximum ROI.</a:t>
            </a:r>
            <a:endParaRPr lang="en-US" sz="1400" dirty="0">
              <a:latin typeface="Times New Roman" panose="02020603050405020304" charset="0"/>
              <a:cs typeface="Times New Roman" panose="02020603050405020304" charset="0"/>
            </a:endParaRPr>
          </a:p>
        </p:txBody>
      </p:sp>
      <p:pic>
        <p:nvPicPr>
          <p:cNvPr id="4" name="Image 0" descr="https://kimi-img.moonshot.cn/pub/slides/okc/6rq3slofmbe7g/mnt/agents/output/template_converted/images/image_1.png"/>
          <p:cNvPicPr>
            <a:picLocks noChangeAspect="1"/>
          </p:cNvPicPr>
          <p:nvPr/>
        </p:nvPicPr>
        <p:blipFill>
          <a:blip r:embed="rId1"/>
          <a:stretch>
            <a:fillRect/>
          </a:stretch>
        </p:blipFill>
        <p:spPr>
          <a:xfrm>
            <a:off x="6655133" y="4638723"/>
            <a:ext cx="2419017" cy="504777"/>
          </a:xfrm>
          <a:prstGeom prst="rect">
            <a:avLst/>
          </a:prstGeom>
        </p:spPr>
      </p:pic>
      <p:pic>
        <p:nvPicPr>
          <p:cNvPr id="5" name="Picture 4"/>
          <p:cNvPicPr>
            <a:picLocks noChangeAspect="1"/>
          </p:cNvPicPr>
          <p:nvPr/>
        </p:nvPicPr>
        <p:blipFill>
          <a:blip r:embed="rId2"/>
          <a:stretch>
            <a:fillRect/>
          </a:stretch>
        </p:blipFill>
        <p:spPr>
          <a:xfrm>
            <a:off x="6363970" y="914400"/>
            <a:ext cx="1894840" cy="2600960"/>
          </a:xfrm>
          <a:prstGeom prst="rect">
            <a:avLst/>
          </a:prstGeom>
        </p:spPr>
      </p:pic>
      <p:pic>
        <p:nvPicPr>
          <p:cNvPr id="8" name="Picture 7"/>
          <p:cNvPicPr>
            <a:picLocks noChangeAspect="1"/>
          </p:cNvPicPr>
          <p:nvPr/>
        </p:nvPicPr>
        <p:blipFill>
          <a:blip r:embed="rId3"/>
          <a:stretch>
            <a:fillRect/>
          </a:stretch>
        </p:blipFill>
        <p:spPr>
          <a:xfrm>
            <a:off x="579120" y="1780540"/>
            <a:ext cx="3581400" cy="12954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3667760" cy="320040"/>
          </a:xfrm>
          <a:prstGeom prst="rect">
            <a:avLst/>
          </a:prstGeom>
          <a:noFill/>
        </p:spPr>
        <p:txBody>
          <a:bodyPr wrap="square" lIns="0" tIns="0" rIns="0" bIns="0" rtlCol="0" anchor="t">
            <a:normAutofit/>
          </a:bodyPr>
          <a:lstStyle/>
          <a:p>
            <a:pPr marL="0" indent="0">
              <a:buNone/>
            </a:pPr>
            <a:r>
              <a:rPr lang="en-US" sz="1400" b="1" dirty="0">
                <a:solidFill>
                  <a:srgbClr val="000000"/>
                </a:solidFill>
                <a:latin typeface="Cambria" panose="02040503050406030204" pitchFamily="34" charset="0"/>
                <a:ea typeface="Cambria" panose="02040503050406030204" pitchFamily="34" charset="-122"/>
                <a:cs typeface="Cambria" panose="02040503050406030204" pitchFamily="34" charset="-120"/>
              </a:rPr>
              <a:t>3.What are the top 3 values of total invoice?</a:t>
            </a:r>
            <a:endParaRPr lang="en-US" sz="1400" dirty="0"/>
          </a:p>
        </p:txBody>
      </p:sp>
      <p:sp>
        <p:nvSpPr>
          <p:cNvPr id="6" name="Text 4"/>
          <p:cNvSpPr/>
          <p:nvPr/>
        </p:nvSpPr>
        <p:spPr>
          <a:xfrm>
            <a:off x="4302760" y="1741170"/>
            <a:ext cx="904240" cy="327660"/>
          </a:xfrm>
          <a:prstGeom prst="rect">
            <a:avLst/>
          </a:prstGeom>
          <a:noFill/>
        </p:spPr>
        <p:txBody>
          <a:bodyPr wrap="square" lIns="0" tIns="0" rIns="0" bIns="0" rtlCol="0" anchor="ctr"/>
          <a:lstStyle/>
          <a:p>
            <a:pPr marL="0" indent="0">
              <a:buNone/>
            </a:pPr>
            <a:r>
              <a:rPr lang="en-US" sz="1800" b="1" dirty="0">
                <a:solidFill>
                  <a:srgbClr val="000000"/>
                </a:solidFill>
                <a:latin typeface="Times New Roman" panose="02020603050405020304" charset="0"/>
                <a:ea typeface="Cambria" panose="02040503050406030204" pitchFamily="34" charset="-122"/>
                <a:cs typeface="Times New Roman" panose="02020603050405020304" charset="0"/>
              </a:rPr>
              <a:t>Output</a:t>
            </a:r>
            <a:r>
              <a:rPr lang="en-US" sz="1800" b="1" dirty="0">
                <a:solidFill>
                  <a:srgbClr val="000000"/>
                </a:solidFill>
                <a:latin typeface="Cambria" panose="02040503050406030204" pitchFamily="34" charset="0"/>
                <a:ea typeface="Cambria" panose="02040503050406030204" pitchFamily="34" charset="-122"/>
                <a:cs typeface="Cambria" panose="02040503050406030204" pitchFamily="34" charset="-120"/>
              </a:rPr>
              <a:t>:</a:t>
            </a:r>
            <a:endParaRPr lang="en-US" sz="1800" dirty="0"/>
          </a:p>
        </p:txBody>
      </p:sp>
      <p:sp>
        <p:nvSpPr>
          <p:cNvPr id="9" name="Text 7"/>
          <p:cNvSpPr/>
          <p:nvPr/>
        </p:nvSpPr>
        <p:spPr>
          <a:xfrm>
            <a:off x="518160" y="3281680"/>
            <a:ext cx="1270635" cy="365760"/>
          </a:xfrm>
          <a:prstGeom prst="rect">
            <a:avLst/>
          </a:prstGeom>
          <a:noFill/>
        </p:spPr>
        <p:txBody>
          <a:bodyPr wrap="square" lIns="0" tIns="0" rIns="0" bIns="0" rtlCol="0" anchor="ctr"/>
          <a:lstStyle/>
          <a:p>
            <a:pPr marL="0" indent="0">
              <a:buNone/>
            </a:pPr>
            <a:r>
              <a:rPr lang="en-US" sz="1800" b="1" dirty="0">
                <a:solidFill>
                  <a:srgbClr val="000000"/>
                </a:solidFill>
                <a:latin typeface="Times New Roman" panose="02020603050405020304" charset="0"/>
                <a:ea typeface="Cambria" panose="02040503050406030204" pitchFamily="34" charset="-122"/>
                <a:cs typeface="Times New Roman" panose="02020603050405020304" charset="0"/>
              </a:rPr>
              <a:t>Key Insight:</a:t>
            </a:r>
            <a:endParaRPr lang="en-US" sz="1800" dirty="0">
              <a:latin typeface="Times New Roman" panose="02020603050405020304" charset="0"/>
              <a:cs typeface="Times New Roman" panose="02020603050405020304" charset="0"/>
            </a:endParaRPr>
          </a:p>
        </p:txBody>
      </p:sp>
      <p:sp>
        <p:nvSpPr>
          <p:cNvPr id="10" name="Text 8"/>
          <p:cNvSpPr/>
          <p:nvPr/>
        </p:nvSpPr>
        <p:spPr>
          <a:xfrm>
            <a:off x="640080" y="3749040"/>
            <a:ext cx="8229600" cy="914400"/>
          </a:xfrm>
          <a:prstGeom prst="rect">
            <a:avLst/>
          </a:prstGeom>
          <a:noFill/>
        </p:spPr>
        <p:txBody>
          <a:bodyPr wrap="square" lIns="0" tIns="0" rIns="0" bIns="0" rtlCol="0" anchor="t"/>
          <a:lstStyle/>
          <a:p>
            <a:pPr marL="342900" indent="-342900">
              <a:buSzPct val="100000"/>
              <a:buChar char="•"/>
            </a:pPr>
            <a:r>
              <a:rPr lang="en-US" sz="1400" dirty="0">
                <a:solidFill>
                  <a:srgbClr val="000000"/>
                </a:solidFill>
                <a:latin typeface="Times New Roman" panose="02020603050405020304" charset="0"/>
                <a:ea typeface="Arial" panose="020B0604020202020204" pitchFamily="34" charset="-122"/>
                <a:cs typeface="Times New Roman" panose="02020603050405020304" charset="0"/>
              </a:rPr>
              <a:t>The top 3 invoice totals reveal the ceiling of single-transaction spending. These outliers indicate premium or bulk purchases and help benchmark pricing strategy, identify high-value transactions, and define </a:t>
            </a:r>
            <a:r>
              <a:rPr lang="en-US" sz="1400" dirty="0">
                <a:solidFill>
                  <a:srgbClr val="000000"/>
                </a:solidFill>
                <a:latin typeface="Times New Roman" panose="02020603050405020304" charset="0"/>
                <a:ea typeface="Arial" panose="020B0604020202020204" pitchFamily="34" charset="-122"/>
                <a:cs typeface="Times New Roman" panose="02020603050405020304" charset="0"/>
              </a:rPr>
              <a:t>loyalty thresholds for VIP customers.</a:t>
            </a:r>
            <a:endParaRPr lang="en-US" sz="1400" dirty="0">
              <a:latin typeface="Times New Roman" panose="02020603050405020304" charset="0"/>
              <a:cs typeface="Times New Roman" panose="02020603050405020304" charset="0"/>
            </a:endParaRPr>
          </a:p>
        </p:txBody>
      </p:sp>
      <p:pic>
        <p:nvPicPr>
          <p:cNvPr id="4" name="Image 0" descr="https://kimi-img.moonshot.cn/pub/slides/okc/6rq3slofmbe7g/mnt/agents/output/template_converted/images/image_1.png"/>
          <p:cNvPicPr>
            <a:picLocks noChangeAspect="1"/>
          </p:cNvPicPr>
          <p:nvPr/>
        </p:nvPicPr>
        <p:blipFill>
          <a:blip r:embed="rId1"/>
          <a:stretch>
            <a:fillRect/>
          </a:stretch>
        </p:blipFill>
        <p:spPr>
          <a:xfrm>
            <a:off x="6646243" y="4638723"/>
            <a:ext cx="2419017" cy="504777"/>
          </a:xfrm>
          <a:prstGeom prst="rect">
            <a:avLst/>
          </a:prstGeom>
        </p:spPr>
      </p:pic>
      <p:pic>
        <p:nvPicPr>
          <p:cNvPr id="3" name="Picture 2"/>
          <p:cNvPicPr>
            <a:picLocks noChangeAspect="1"/>
          </p:cNvPicPr>
          <p:nvPr/>
        </p:nvPicPr>
        <p:blipFill>
          <a:blip r:embed="rId2"/>
          <a:stretch>
            <a:fillRect/>
          </a:stretch>
        </p:blipFill>
        <p:spPr>
          <a:xfrm>
            <a:off x="922655" y="864870"/>
            <a:ext cx="2872740" cy="2080260"/>
          </a:xfrm>
          <a:prstGeom prst="rect">
            <a:avLst/>
          </a:prstGeom>
        </p:spPr>
      </p:pic>
      <p:pic>
        <p:nvPicPr>
          <p:cNvPr id="5" name="Picture 4"/>
          <p:cNvPicPr>
            <a:picLocks noChangeAspect="1"/>
          </p:cNvPicPr>
          <p:nvPr/>
        </p:nvPicPr>
        <p:blipFill>
          <a:blip r:embed="rId3"/>
          <a:stretch>
            <a:fillRect/>
          </a:stretch>
        </p:blipFill>
        <p:spPr>
          <a:xfrm>
            <a:off x="5975985" y="1543050"/>
            <a:ext cx="670560" cy="7239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2896235" cy="227965"/>
          </a:xfrm>
          <a:prstGeom prst="rect">
            <a:avLst/>
          </a:prstGeom>
          <a:noFill/>
        </p:spPr>
        <p:txBody>
          <a:bodyPr wrap="square" lIns="0" tIns="0" rIns="0" bIns="0" rtlCol="0" anchor="t">
            <a:normAutofit/>
          </a:bodyPr>
          <a:lstStyle/>
          <a:p>
            <a:pPr marL="0" indent="0">
              <a:buNone/>
            </a:pPr>
            <a:r>
              <a:rPr lang="en-US" sz="1400" b="1" dirty="0">
                <a:solidFill>
                  <a:srgbClr val="000000"/>
                </a:solidFill>
                <a:latin typeface="Times New Roman" panose="02020603050405020304" charset="0"/>
                <a:ea typeface="Cambria" panose="02040503050406030204" pitchFamily="34" charset="-122"/>
                <a:cs typeface="Times New Roman" panose="02020603050405020304" charset="0"/>
              </a:rPr>
              <a:t>4.Which city has the best customers?</a:t>
            </a:r>
            <a:endParaRPr lang="en-US" sz="1400" b="1" dirty="0">
              <a:solidFill>
                <a:srgbClr val="000000"/>
              </a:solidFill>
              <a:latin typeface="Times New Roman" panose="02020603050405020304" charset="0"/>
              <a:ea typeface="Cambria" panose="02040503050406030204" pitchFamily="34" charset="-122"/>
              <a:cs typeface="Times New Roman" panose="02020603050405020304" charset="0"/>
            </a:endParaRPr>
          </a:p>
        </p:txBody>
      </p:sp>
      <p:sp>
        <p:nvSpPr>
          <p:cNvPr id="6" name="Text 4"/>
          <p:cNvSpPr/>
          <p:nvPr/>
        </p:nvSpPr>
        <p:spPr>
          <a:xfrm>
            <a:off x="6106160" y="1052195"/>
            <a:ext cx="853440" cy="320040"/>
          </a:xfrm>
          <a:prstGeom prst="rect">
            <a:avLst/>
          </a:prstGeom>
          <a:noFill/>
        </p:spPr>
        <p:txBody>
          <a:bodyPr wrap="square" lIns="0" tIns="0" rIns="0" bIns="0" rtlCol="0" anchor="ctr"/>
          <a:lstStyle/>
          <a:p>
            <a:pPr marL="0" indent="0">
              <a:buNone/>
            </a:pPr>
            <a:r>
              <a:rPr lang="en-US" sz="1800" b="1" dirty="0">
                <a:solidFill>
                  <a:srgbClr val="000000"/>
                </a:solidFill>
                <a:latin typeface="Times New Roman" panose="02020603050405020304" charset="0"/>
                <a:ea typeface="Cambria" panose="02040503050406030204" pitchFamily="34" charset="-122"/>
                <a:cs typeface="Times New Roman" panose="02020603050405020304" charset="0"/>
              </a:rPr>
              <a:t>Output:</a:t>
            </a:r>
            <a:endParaRPr lang="en-US" sz="1800" b="1" dirty="0">
              <a:solidFill>
                <a:srgbClr val="000000"/>
              </a:solidFill>
              <a:latin typeface="Times New Roman" panose="02020603050405020304" charset="0"/>
              <a:ea typeface="Cambria" panose="02040503050406030204" pitchFamily="34" charset="-122"/>
              <a:cs typeface="Times New Roman" panose="02020603050405020304" charset="0"/>
            </a:endParaRPr>
          </a:p>
        </p:txBody>
      </p:sp>
      <p:sp>
        <p:nvSpPr>
          <p:cNvPr id="9" name="Text 7"/>
          <p:cNvSpPr/>
          <p:nvPr/>
        </p:nvSpPr>
        <p:spPr>
          <a:xfrm>
            <a:off x="457200" y="3383280"/>
            <a:ext cx="1260475" cy="320040"/>
          </a:xfrm>
          <a:prstGeom prst="rect">
            <a:avLst/>
          </a:prstGeom>
          <a:noFill/>
        </p:spPr>
        <p:txBody>
          <a:bodyPr wrap="square" lIns="0" tIns="0" rIns="0" bIns="0" rtlCol="0" anchor="ctr"/>
          <a:lstStyle/>
          <a:p>
            <a:pPr marL="0" indent="0">
              <a:buNone/>
            </a:pPr>
            <a:r>
              <a:rPr lang="en-US" sz="1800" b="1" dirty="0">
                <a:solidFill>
                  <a:srgbClr val="000000"/>
                </a:solidFill>
                <a:latin typeface="Times New Roman" panose="02020603050405020304" charset="0"/>
                <a:ea typeface="Cambria" panose="02040503050406030204" pitchFamily="34" charset="-122"/>
                <a:cs typeface="Times New Roman" panose="02020603050405020304" charset="0"/>
              </a:rPr>
              <a:t>Key Insight:</a:t>
            </a:r>
            <a:endParaRPr lang="en-US" sz="1800" b="1" dirty="0">
              <a:solidFill>
                <a:srgbClr val="000000"/>
              </a:solidFill>
              <a:latin typeface="Times New Roman" panose="02020603050405020304" charset="0"/>
              <a:ea typeface="Cambria" panose="02040503050406030204" pitchFamily="34" charset="-122"/>
              <a:cs typeface="Times New Roman" panose="02020603050405020304" charset="0"/>
            </a:endParaRPr>
          </a:p>
        </p:txBody>
      </p:sp>
      <p:sp>
        <p:nvSpPr>
          <p:cNvPr id="10" name="Text 8"/>
          <p:cNvSpPr/>
          <p:nvPr/>
        </p:nvSpPr>
        <p:spPr>
          <a:xfrm>
            <a:off x="640080" y="3749040"/>
            <a:ext cx="8229600" cy="914400"/>
          </a:xfrm>
          <a:prstGeom prst="rect">
            <a:avLst/>
          </a:prstGeom>
          <a:noFill/>
        </p:spPr>
        <p:txBody>
          <a:bodyPr wrap="square" lIns="0" tIns="0" rIns="0" bIns="0" rtlCol="0" anchor="t"/>
          <a:lstStyle/>
          <a:p>
            <a:pPr marL="342900" indent="-342900">
              <a:buSzPct val="100000"/>
              <a:buChar char="•"/>
            </a:pPr>
            <a:r>
              <a:rPr lang="en-US" sz="1400" dirty="0">
                <a:solidFill>
                  <a:srgbClr val="000000"/>
                </a:solidFill>
                <a:latin typeface="Times New Roman" panose="02020603050405020304" charset="0"/>
                <a:ea typeface="Arial" panose="020B0604020202020204" pitchFamily="34" charset="-122"/>
                <a:cs typeface="Times New Roman" panose="02020603050405020304" charset="0"/>
              </a:rPr>
              <a:t>We would like to throw a promotional Music Festival in the city that has made the most money. The top-earning city represents the strongest market for a promotional Music Festival, ensuring maximum footfall and return on event investment. The result also serves as a model for replicating similar events in other high-revenue locations.</a:t>
            </a:r>
            <a:endParaRPr lang="en-US" sz="1400" dirty="0">
              <a:latin typeface="Times New Roman" panose="02020603050405020304" charset="0"/>
              <a:cs typeface="Times New Roman" panose="02020603050405020304" charset="0"/>
            </a:endParaRPr>
          </a:p>
        </p:txBody>
      </p:sp>
      <p:pic>
        <p:nvPicPr>
          <p:cNvPr id="13" name="Picture 12"/>
          <p:cNvPicPr>
            <a:picLocks noChangeAspect="1"/>
          </p:cNvPicPr>
          <p:nvPr/>
        </p:nvPicPr>
        <p:blipFill>
          <a:blip r:embed="rId1"/>
          <a:srcRect t="35049"/>
          <a:stretch>
            <a:fillRect/>
          </a:stretch>
        </p:blipFill>
        <p:spPr>
          <a:xfrm>
            <a:off x="6044565" y="1893570"/>
            <a:ext cx="2217420" cy="504825"/>
          </a:xfrm>
          <a:prstGeom prst="rect">
            <a:avLst/>
          </a:prstGeom>
        </p:spPr>
      </p:pic>
      <p:pic>
        <p:nvPicPr>
          <p:cNvPr id="4" name="Image 0" descr="https://kimi-img.moonshot.cn/pub/slides/okc/6rq3slofmbe7g/mnt/agents/output/template_converted/images/image_1.png"/>
          <p:cNvPicPr>
            <a:picLocks noChangeAspect="1"/>
          </p:cNvPicPr>
          <p:nvPr/>
        </p:nvPicPr>
        <p:blipFill>
          <a:blip r:embed="rId2"/>
          <a:stretch>
            <a:fillRect/>
          </a:stretch>
        </p:blipFill>
        <p:spPr>
          <a:xfrm>
            <a:off x="6664023" y="4638723"/>
            <a:ext cx="2419017" cy="504777"/>
          </a:xfrm>
          <a:prstGeom prst="rect">
            <a:avLst/>
          </a:prstGeom>
        </p:spPr>
      </p:pic>
      <p:pic>
        <p:nvPicPr>
          <p:cNvPr id="5" name="Picture 4"/>
          <p:cNvPicPr>
            <a:picLocks noChangeAspect="1"/>
          </p:cNvPicPr>
          <p:nvPr/>
        </p:nvPicPr>
        <p:blipFill>
          <a:blip r:embed="rId3"/>
          <a:stretch>
            <a:fillRect/>
          </a:stretch>
        </p:blipFill>
        <p:spPr>
          <a:xfrm>
            <a:off x="457200" y="850265"/>
            <a:ext cx="4244340" cy="20421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777240"/>
          </a:xfrm>
          <a:prstGeom prst="rect">
            <a:avLst/>
          </a:prstGeom>
          <a:noFill/>
        </p:spPr>
        <p:txBody>
          <a:bodyPr wrap="square" lIns="0" tIns="0" rIns="0" bIns="0" rtlCol="0" anchor="t">
            <a:normAutofit/>
          </a:bodyPr>
          <a:lstStyle/>
          <a:p>
            <a:pPr marL="0" indent="0">
              <a:buNone/>
            </a:pPr>
            <a:r>
              <a:rPr lang="en-US" sz="1400" b="1" dirty="0">
                <a:solidFill>
                  <a:srgbClr val="000000"/>
                </a:solidFill>
                <a:latin typeface="Times New Roman" panose="02020603050405020304" charset="0"/>
                <a:ea typeface="Cambria" panose="02040503050406030204" pitchFamily="34" charset="-122"/>
                <a:cs typeface="Times New Roman" panose="02020603050405020304" charset="0"/>
              </a:rPr>
              <a:t>5.Who is the best customer?</a:t>
            </a:r>
            <a:endParaRPr lang="en-US" sz="1400" dirty="0">
              <a:latin typeface="Times New Roman" panose="02020603050405020304" charset="0"/>
              <a:cs typeface="Times New Roman" panose="02020603050405020304" charset="0"/>
            </a:endParaRPr>
          </a:p>
        </p:txBody>
      </p:sp>
      <p:sp>
        <p:nvSpPr>
          <p:cNvPr id="6" name="Text 4"/>
          <p:cNvSpPr/>
          <p:nvPr/>
        </p:nvSpPr>
        <p:spPr>
          <a:xfrm>
            <a:off x="5279390" y="909320"/>
            <a:ext cx="894080" cy="320040"/>
          </a:xfrm>
          <a:prstGeom prst="rect">
            <a:avLst/>
          </a:prstGeom>
          <a:noFill/>
        </p:spPr>
        <p:txBody>
          <a:bodyPr wrap="square" lIns="0" tIns="0" rIns="0" bIns="0" rtlCol="0" anchor="ctr"/>
          <a:lstStyle/>
          <a:p>
            <a:pPr marL="0" indent="0">
              <a:buNone/>
            </a:pPr>
            <a:r>
              <a:rPr lang="en-US" sz="1800" b="1" dirty="0">
                <a:solidFill>
                  <a:srgbClr val="000000"/>
                </a:solidFill>
                <a:latin typeface="Times New Roman" panose="02020603050405020304" charset="0"/>
                <a:ea typeface="Cambria" panose="02040503050406030204" pitchFamily="34" charset="-122"/>
                <a:cs typeface="Times New Roman" panose="02020603050405020304" charset="0"/>
              </a:rPr>
              <a:t>Output:</a:t>
            </a:r>
            <a:endParaRPr lang="en-US" sz="1800" dirty="0">
              <a:latin typeface="Times New Roman" panose="02020603050405020304" charset="0"/>
              <a:cs typeface="Times New Roman" panose="02020603050405020304" charset="0"/>
            </a:endParaRPr>
          </a:p>
        </p:txBody>
      </p:sp>
      <p:sp>
        <p:nvSpPr>
          <p:cNvPr id="9" name="Text 7"/>
          <p:cNvSpPr/>
          <p:nvPr/>
        </p:nvSpPr>
        <p:spPr>
          <a:xfrm>
            <a:off x="457200" y="3383280"/>
            <a:ext cx="1491615" cy="269240"/>
          </a:xfrm>
          <a:prstGeom prst="rect">
            <a:avLst/>
          </a:prstGeom>
          <a:noFill/>
        </p:spPr>
        <p:txBody>
          <a:bodyPr wrap="square" lIns="0" tIns="0" rIns="0" bIns="0" rtlCol="0" anchor="ctr"/>
          <a:lstStyle/>
          <a:p>
            <a:pPr marL="0" indent="0">
              <a:buNone/>
            </a:pPr>
            <a:r>
              <a:rPr lang="en-US" sz="1800" b="1" dirty="0">
                <a:solidFill>
                  <a:srgbClr val="000000"/>
                </a:solidFill>
                <a:latin typeface="Times New Roman" panose="02020603050405020304" charset="0"/>
                <a:ea typeface="Cambria" panose="02040503050406030204" pitchFamily="34" charset="-122"/>
                <a:cs typeface="Times New Roman" panose="02020603050405020304" charset="0"/>
              </a:rPr>
              <a:t>Key Insight:</a:t>
            </a:r>
            <a:endParaRPr lang="en-US" sz="1800" dirty="0">
              <a:latin typeface="Times New Roman" panose="02020603050405020304" charset="0"/>
              <a:cs typeface="Times New Roman" panose="02020603050405020304" charset="0"/>
            </a:endParaRPr>
          </a:p>
        </p:txBody>
      </p:sp>
      <p:sp>
        <p:nvSpPr>
          <p:cNvPr id="10" name="Text 8"/>
          <p:cNvSpPr/>
          <p:nvPr/>
        </p:nvSpPr>
        <p:spPr>
          <a:xfrm>
            <a:off x="640080" y="3749040"/>
            <a:ext cx="8229600" cy="914400"/>
          </a:xfrm>
          <a:prstGeom prst="rect">
            <a:avLst/>
          </a:prstGeom>
          <a:noFill/>
        </p:spPr>
        <p:txBody>
          <a:bodyPr wrap="square" lIns="0" tIns="0" rIns="0" bIns="0" rtlCol="0" anchor="t"/>
          <a:lstStyle/>
          <a:p>
            <a:pPr marL="342900" indent="-342900">
              <a:buSzPct val="100000"/>
              <a:buChar char="•"/>
            </a:pPr>
            <a:r>
              <a:rPr lang="en-US" sz="1400" dirty="0">
                <a:solidFill>
                  <a:srgbClr val="000000"/>
                </a:solidFill>
                <a:latin typeface="Times New Roman" panose="02020603050405020304" charset="0"/>
                <a:ea typeface="Arial" panose="020B0604020202020204" pitchFamily="34" charset="-122"/>
                <a:cs typeface="Times New Roman" panose="02020603050405020304" charset="0"/>
              </a:rPr>
              <a:t>The customer who has spent the most money is a high-value asset worth retaining through VIP treatment, exclusive offers, and personalized engagement. Recognizing and rewarding this customer drives word-of-mouth referrals and long-term loyalty.</a:t>
            </a:r>
            <a:endParaRPr lang="en-US" sz="1400" dirty="0">
              <a:latin typeface="Times New Roman" panose="02020603050405020304" charset="0"/>
              <a:cs typeface="Times New Roman" panose="02020603050405020304" charset="0"/>
            </a:endParaRPr>
          </a:p>
        </p:txBody>
      </p:sp>
      <p:pic>
        <p:nvPicPr>
          <p:cNvPr id="13" name="Picture 12"/>
          <p:cNvPicPr>
            <a:picLocks noChangeAspect="1"/>
          </p:cNvPicPr>
          <p:nvPr/>
        </p:nvPicPr>
        <p:blipFill>
          <a:blip r:embed="rId1"/>
          <a:srcRect t="29792" r="13961" b="15000"/>
          <a:stretch>
            <a:fillRect/>
          </a:stretch>
        </p:blipFill>
        <p:spPr>
          <a:xfrm>
            <a:off x="5249545" y="1929765"/>
            <a:ext cx="2281555" cy="504825"/>
          </a:xfrm>
          <a:prstGeom prst="rect">
            <a:avLst/>
          </a:prstGeom>
        </p:spPr>
      </p:pic>
      <p:pic>
        <p:nvPicPr>
          <p:cNvPr id="4" name="Image 0" descr="https://kimi-img.moonshot.cn/pub/slides/okc/6rq3slofmbe7g/mnt/agents/output/template_converted/images/image_1.png"/>
          <p:cNvPicPr>
            <a:picLocks noChangeAspect="1"/>
          </p:cNvPicPr>
          <p:nvPr/>
        </p:nvPicPr>
        <p:blipFill>
          <a:blip r:embed="rId2"/>
          <a:stretch>
            <a:fillRect/>
          </a:stretch>
        </p:blipFill>
        <p:spPr>
          <a:xfrm>
            <a:off x="6664023" y="4638723"/>
            <a:ext cx="2419017" cy="504777"/>
          </a:xfrm>
          <a:prstGeom prst="rect">
            <a:avLst/>
          </a:prstGeom>
        </p:spPr>
      </p:pic>
      <p:pic>
        <p:nvPicPr>
          <p:cNvPr id="5" name="Picture 4"/>
          <p:cNvPicPr>
            <a:picLocks noChangeAspect="1"/>
          </p:cNvPicPr>
          <p:nvPr/>
        </p:nvPicPr>
        <p:blipFill>
          <a:blip r:embed="rId3"/>
          <a:stretch>
            <a:fillRect/>
          </a:stretch>
        </p:blipFill>
        <p:spPr>
          <a:xfrm>
            <a:off x="308610" y="635000"/>
            <a:ext cx="4015740" cy="23469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7680"/>
            <a:ext cx="8229600" cy="408940"/>
          </a:xfrm>
          <a:prstGeom prst="rect">
            <a:avLst/>
          </a:prstGeom>
          <a:noFill/>
        </p:spPr>
        <p:txBody>
          <a:bodyPr wrap="square" lIns="0" tIns="0" rIns="0" bIns="0" rtlCol="0" anchor="t">
            <a:normAutofit lnSpcReduction="10000"/>
          </a:bodyPr>
          <a:lstStyle/>
          <a:p>
            <a:pPr marL="0" indent="0">
              <a:buNone/>
            </a:pPr>
            <a:r>
              <a:rPr lang="en-US" sz="1400" b="1" dirty="0">
                <a:solidFill>
                  <a:srgbClr val="000000"/>
                </a:solidFill>
                <a:latin typeface="Times New Roman" panose="02020603050405020304" charset="0"/>
                <a:ea typeface="Cambria" panose="02040503050406030204" pitchFamily="34" charset="-122"/>
                <a:cs typeface="Times New Roman" panose="02020603050405020304" charset="0"/>
              </a:rPr>
              <a:t>6.Write a query to return the email, first name, last name, &amp; Genre of all Rock Music listeners. Return the list ordered alphabetically by email starting with A.</a:t>
            </a:r>
            <a:endParaRPr lang="en-US" sz="1400" dirty="0">
              <a:latin typeface="Times New Roman" panose="02020603050405020304" charset="0"/>
              <a:cs typeface="Times New Roman" panose="02020603050405020304" charset="0"/>
            </a:endParaRPr>
          </a:p>
        </p:txBody>
      </p:sp>
      <p:sp>
        <p:nvSpPr>
          <p:cNvPr id="6" name="Text 4"/>
          <p:cNvSpPr/>
          <p:nvPr/>
        </p:nvSpPr>
        <p:spPr>
          <a:xfrm>
            <a:off x="4644390" y="1179830"/>
            <a:ext cx="812800" cy="361950"/>
          </a:xfrm>
          <a:prstGeom prst="rect">
            <a:avLst/>
          </a:prstGeom>
          <a:noFill/>
        </p:spPr>
        <p:txBody>
          <a:bodyPr wrap="square" lIns="0" tIns="0" rIns="0" bIns="0" rtlCol="0" anchor="ctr"/>
          <a:lstStyle/>
          <a:p>
            <a:pPr marL="0" indent="0">
              <a:buNone/>
            </a:pPr>
            <a:r>
              <a:rPr lang="en-US" sz="1800" b="1" dirty="0">
                <a:solidFill>
                  <a:srgbClr val="000000"/>
                </a:solidFill>
                <a:latin typeface="Times New Roman" panose="02020603050405020304" charset="0"/>
                <a:ea typeface="Cambria" panose="02040503050406030204" pitchFamily="34" charset="-122"/>
                <a:cs typeface="Times New Roman" panose="02020603050405020304" charset="0"/>
              </a:rPr>
              <a:t>Output:</a:t>
            </a:r>
            <a:endParaRPr lang="en-US" sz="1800" dirty="0">
              <a:latin typeface="Times New Roman" panose="02020603050405020304" charset="0"/>
              <a:cs typeface="Times New Roman" panose="02020603050405020304" charset="0"/>
            </a:endParaRPr>
          </a:p>
        </p:txBody>
      </p:sp>
      <p:sp>
        <p:nvSpPr>
          <p:cNvPr id="9" name="Text 7"/>
          <p:cNvSpPr/>
          <p:nvPr/>
        </p:nvSpPr>
        <p:spPr>
          <a:xfrm>
            <a:off x="457200" y="3383280"/>
            <a:ext cx="1229360" cy="276860"/>
          </a:xfrm>
          <a:prstGeom prst="rect">
            <a:avLst/>
          </a:prstGeom>
          <a:noFill/>
        </p:spPr>
        <p:txBody>
          <a:bodyPr wrap="square" lIns="0" tIns="0" rIns="0" bIns="0" rtlCol="0" anchor="ctr"/>
          <a:lstStyle/>
          <a:p>
            <a:pPr marL="0" indent="0">
              <a:buNone/>
            </a:pPr>
            <a:r>
              <a:rPr lang="en-US" sz="1800" b="1" dirty="0">
                <a:solidFill>
                  <a:srgbClr val="000000"/>
                </a:solidFill>
                <a:latin typeface="Times New Roman" panose="02020603050405020304" charset="0"/>
                <a:ea typeface="Cambria" panose="02040503050406030204" pitchFamily="34" charset="-122"/>
                <a:cs typeface="Times New Roman" panose="02020603050405020304" charset="0"/>
              </a:rPr>
              <a:t>Key Insight:</a:t>
            </a:r>
            <a:endParaRPr lang="en-US" sz="1800" dirty="0">
              <a:latin typeface="Times New Roman" panose="02020603050405020304" charset="0"/>
              <a:cs typeface="Times New Roman" panose="02020603050405020304" charset="0"/>
            </a:endParaRPr>
          </a:p>
        </p:txBody>
      </p:sp>
      <p:sp>
        <p:nvSpPr>
          <p:cNvPr id="10" name="Text 8"/>
          <p:cNvSpPr/>
          <p:nvPr/>
        </p:nvSpPr>
        <p:spPr>
          <a:xfrm>
            <a:off x="640080" y="3749040"/>
            <a:ext cx="8229600" cy="914400"/>
          </a:xfrm>
          <a:prstGeom prst="rect">
            <a:avLst/>
          </a:prstGeom>
          <a:noFill/>
        </p:spPr>
        <p:txBody>
          <a:bodyPr wrap="square" lIns="0" tIns="0" rIns="0" bIns="0" rtlCol="0" anchor="t"/>
          <a:lstStyle/>
          <a:p>
            <a:pPr marL="342900" indent="-342900">
              <a:buSzPct val="100000"/>
              <a:buChar char="•"/>
            </a:pPr>
            <a:r>
              <a:rPr lang="en-US" sz="1400" dirty="0">
                <a:solidFill>
                  <a:srgbClr val="000000"/>
                </a:solidFill>
                <a:latin typeface="Times New Roman" panose="02020603050405020304" charset="0"/>
                <a:ea typeface="Arial" panose="020B0604020202020204" pitchFamily="34" charset="-122"/>
                <a:cs typeface="Times New Roman" panose="02020603050405020304" charset="0"/>
              </a:rPr>
              <a:t>This filtered contact list of Rock music listeners is the foundation for targeted Rock-focused email marketing, new-release announcements, and concert promotions. Sorted alphabetically by email, it integrates directly into CRM tools for segmented campaign execution.</a:t>
            </a:r>
            <a:endParaRPr lang="en-US" sz="1400" dirty="0">
              <a:latin typeface="Times New Roman" panose="02020603050405020304" charset="0"/>
              <a:cs typeface="Times New Roman" panose="02020603050405020304" charset="0"/>
            </a:endParaRPr>
          </a:p>
        </p:txBody>
      </p:sp>
      <p:pic>
        <p:nvPicPr>
          <p:cNvPr id="13" name="Picture 12"/>
          <p:cNvPicPr>
            <a:picLocks noChangeAspect="1"/>
          </p:cNvPicPr>
          <p:nvPr/>
        </p:nvPicPr>
        <p:blipFill>
          <a:blip r:embed="rId1"/>
          <a:srcRect t="4776" r="10118"/>
          <a:stretch>
            <a:fillRect/>
          </a:stretch>
        </p:blipFill>
        <p:spPr>
          <a:xfrm>
            <a:off x="4726940" y="1715135"/>
            <a:ext cx="3677920" cy="1215390"/>
          </a:xfrm>
          <a:prstGeom prst="rect">
            <a:avLst/>
          </a:prstGeom>
        </p:spPr>
      </p:pic>
      <p:pic>
        <p:nvPicPr>
          <p:cNvPr id="4" name="Picture 3"/>
          <p:cNvPicPr>
            <a:picLocks noChangeAspect="1"/>
          </p:cNvPicPr>
          <p:nvPr/>
        </p:nvPicPr>
        <p:blipFill>
          <a:blip r:embed="rId2"/>
          <a:stretch>
            <a:fillRect/>
          </a:stretch>
        </p:blipFill>
        <p:spPr>
          <a:xfrm>
            <a:off x="351790" y="1151255"/>
            <a:ext cx="4283075" cy="2129790"/>
          </a:xfrm>
          <a:prstGeom prst="rect">
            <a:avLst/>
          </a:prstGeom>
        </p:spPr>
      </p:pic>
      <p:pic>
        <p:nvPicPr>
          <p:cNvPr id="5" name="Image 0" descr="https://kimi-img.moonshot.cn/pub/slides/okc/6rq3slofmbe7g/mnt/agents/output/template_converted/images/image_1.png"/>
          <p:cNvPicPr>
            <a:picLocks noChangeAspect="1"/>
          </p:cNvPicPr>
          <p:nvPr/>
        </p:nvPicPr>
        <p:blipFill>
          <a:blip r:embed="rId3"/>
          <a:stretch>
            <a:fillRect/>
          </a:stretch>
        </p:blipFill>
        <p:spPr>
          <a:xfrm>
            <a:off x="6664023" y="4638723"/>
            <a:ext cx="2419017" cy="50477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777240"/>
          </a:xfrm>
          <a:prstGeom prst="rect">
            <a:avLst/>
          </a:prstGeom>
          <a:noFill/>
        </p:spPr>
        <p:txBody>
          <a:bodyPr wrap="square" lIns="0" tIns="0" rIns="0" bIns="0" rtlCol="0" anchor="t">
            <a:normAutofit/>
          </a:bodyPr>
          <a:lstStyle/>
          <a:p>
            <a:pPr marL="0" indent="0">
              <a:buNone/>
            </a:pPr>
            <a:r>
              <a:rPr lang="en-US" sz="1400" b="1" dirty="0">
                <a:solidFill>
                  <a:srgbClr val="000000"/>
                </a:solidFill>
                <a:latin typeface="Times New Roman" panose="02020603050405020304" charset="0"/>
                <a:ea typeface="Cambria" panose="02040503050406030204" pitchFamily="34" charset="-122"/>
                <a:cs typeface="Times New Roman" panose="02020603050405020304" charset="0"/>
              </a:rPr>
              <a:t>7. Let's invite the artists who have written the most Rock music in our dataset. Write a query that returns the Artist name and total track count of the top 10 Rock bands.</a:t>
            </a:r>
            <a:endParaRPr lang="en-US" sz="1400" dirty="0">
              <a:latin typeface="Times New Roman" panose="02020603050405020304" charset="0"/>
              <a:cs typeface="Times New Roman" panose="02020603050405020304" charset="0"/>
            </a:endParaRPr>
          </a:p>
        </p:txBody>
      </p:sp>
      <p:sp>
        <p:nvSpPr>
          <p:cNvPr id="6" name="Text 4"/>
          <p:cNvSpPr/>
          <p:nvPr/>
        </p:nvSpPr>
        <p:spPr>
          <a:xfrm>
            <a:off x="5444490" y="1299210"/>
            <a:ext cx="866775" cy="309880"/>
          </a:xfrm>
          <a:prstGeom prst="rect">
            <a:avLst/>
          </a:prstGeom>
          <a:noFill/>
        </p:spPr>
        <p:txBody>
          <a:bodyPr wrap="square" lIns="0" tIns="0" rIns="0" bIns="0" rtlCol="0" anchor="ctr"/>
          <a:lstStyle/>
          <a:p>
            <a:pPr marL="0" indent="0">
              <a:buNone/>
            </a:pPr>
            <a:r>
              <a:rPr lang="en-US" sz="1800" b="1" dirty="0">
                <a:solidFill>
                  <a:srgbClr val="000000"/>
                </a:solidFill>
                <a:latin typeface="Times New Roman" panose="02020603050405020304" charset="0"/>
                <a:ea typeface="Cambria" panose="02040503050406030204" pitchFamily="34" charset="-122"/>
                <a:cs typeface="Times New Roman" panose="02020603050405020304" charset="0"/>
              </a:rPr>
              <a:t>Output:</a:t>
            </a:r>
            <a:endParaRPr lang="en-US" sz="1800" dirty="0">
              <a:latin typeface="Times New Roman" panose="02020603050405020304" charset="0"/>
              <a:cs typeface="Times New Roman" panose="02020603050405020304" charset="0"/>
            </a:endParaRPr>
          </a:p>
        </p:txBody>
      </p:sp>
      <p:sp>
        <p:nvSpPr>
          <p:cNvPr id="9" name="Text 7"/>
          <p:cNvSpPr/>
          <p:nvPr/>
        </p:nvSpPr>
        <p:spPr>
          <a:xfrm>
            <a:off x="386080" y="3620770"/>
            <a:ext cx="1249680" cy="339090"/>
          </a:xfrm>
          <a:prstGeom prst="rect">
            <a:avLst/>
          </a:prstGeom>
          <a:noFill/>
        </p:spPr>
        <p:txBody>
          <a:bodyPr wrap="square" lIns="0" tIns="0" rIns="0" bIns="0" rtlCol="0" anchor="ctr"/>
          <a:lstStyle/>
          <a:p>
            <a:pPr marL="0" indent="0">
              <a:buNone/>
            </a:pPr>
            <a:r>
              <a:rPr lang="en-US" sz="1800" b="1" dirty="0">
                <a:solidFill>
                  <a:srgbClr val="000000"/>
                </a:solidFill>
                <a:latin typeface="Times New Roman" panose="02020603050405020304" charset="0"/>
                <a:ea typeface="Cambria" panose="02040503050406030204" pitchFamily="34" charset="-122"/>
                <a:cs typeface="Times New Roman" panose="02020603050405020304" charset="0"/>
              </a:rPr>
              <a:t>Key Insight:</a:t>
            </a:r>
            <a:endParaRPr lang="en-US" sz="1800" dirty="0">
              <a:latin typeface="Times New Roman" panose="02020603050405020304" charset="0"/>
              <a:cs typeface="Times New Roman" panose="02020603050405020304" charset="0"/>
            </a:endParaRPr>
          </a:p>
        </p:txBody>
      </p:sp>
      <p:sp>
        <p:nvSpPr>
          <p:cNvPr id="10" name="Text 8"/>
          <p:cNvSpPr/>
          <p:nvPr/>
        </p:nvSpPr>
        <p:spPr>
          <a:xfrm>
            <a:off x="457200" y="3959860"/>
            <a:ext cx="8229600" cy="669925"/>
          </a:xfrm>
          <a:prstGeom prst="rect">
            <a:avLst/>
          </a:prstGeom>
          <a:noFill/>
        </p:spPr>
        <p:txBody>
          <a:bodyPr wrap="square" lIns="0" tIns="0" rIns="0" bIns="0" rtlCol="0" anchor="t"/>
          <a:lstStyle/>
          <a:p>
            <a:pPr marL="342900" indent="-342900">
              <a:buSzPct val="100000"/>
              <a:buChar char="•"/>
            </a:pPr>
            <a:r>
              <a:rPr lang="en-US" sz="1400" dirty="0">
                <a:solidFill>
                  <a:srgbClr val="000000"/>
                </a:solidFill>
                <a:latin typeface="Times New Roman" panose="02020603050405020304" charset="0"/>
                <a:ea typeface="Arial" panose="020B0604020202020204" pitchFamily="34" charset="-122"/>
                <a:cs typeface="Times New Roman" panose="02020603050405020304" charset="0"/>
              </a:rPr>
              <a:t>The top 10 Rock artists by track count are prime candidates for promotional events, partnerships, and featured playlists. Their large catalog footprint indicates strong catalog demand and reliable audience engagement for Rock enthusiasts.</a:t>
            </a:r>
            <a:endParaRPr lang="en-US" sz="1400" dirty="0">
              <a:latin typeface="Times New Roman" panose="02020603050405020304" charset="0"/>
              <a:cs typeface="Times New Roman" panose="02020603050405020304" charset="0"/>
            </a:endParaRPr>
          </a:p>
        </p:txBody>
      </p:sp>
      <p:pic>
        <p:nvPicPr>
          <p:cNvPr id="13" name="Picture 12"/>
          <p:cNvPicPr>
            <a:picLocks noChangeAspect="1"/>
          </p:cNvPicPr>
          <p:nvPr/>
        </p:nvPicPr>
        <p:blipFill>
          <a:blip r:embed="rId1"/>
          <a:srcRect t="9225" r="7713" b="9535"/>
          <a:stretch>
            <a:fillRect/>
          </a:stretch>
        </p:blipFill>
        <p:spPr>
          <a:xfrm>
            <a:off x="5444490" y="1744980"/>
            <a:ext cx="2834005" cy="1330960"/>
          </a:xfrm>
          <a:prstGeom prst="rect">
            <a:avLst/>
          </a:prstGeom>
        </p:spPr>
      </p:pic>
      <p:pic>
        <p:nvPicPr>
          <p:cNvPr id="4" name="Image 0" descr="https://kimi-img.moonshot.cn/pub/slides/okc/6rq3slofmbe7g/mnt/agents/output/template_converted/images/image_1.png"/>
          <p:cNvPicPr>
            <a:picLocks noChangeAspect="1"/>
          </p:cNvPicPr>
          <p:nvPr/>
        </p:nvPicPr>
        <p:blipFill>
          <a:blip r:embed="rId2"/>
          <a:stretch>
            <a:fillRect/>
          </a:stretch>
        </p:blipFill>
        <p:spPr>
          <a:xfrm>
            <a:off x="6655133" y="4629833"/>
            <a:ext cx="2419017" cy="504777"/>
          </a:xfrm>
          <a:prstGeom prst="rect">
            <a:avLst/>
          </a:prstGeom>
        </p:spPr>
      </p:pic>
      <p:pic>
        <p:nvPicPr>
          <p:cNvPr id="5" name="Picture 4"/>
          <p:cNvPicPr>
            <a:picLocks noChangeAspect="1"/>
          </p:cNvPicPr>
          <p:nvPr/>
        </p:nvPicPr>
        <p:blipFill>
          <a:blip r:embed="rId3"/>
          <a:stretch>
            <a:fillRect/>
          </a:stretch>
        </p:blipFill>
        <p:spPr>
          <a:xfrm>
            <a:off x="457200" y="839470"/>
            <a:ext cx="4257040" cy="265620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45440"/>
            <a:ext cx="8229600" cy="495935"/>
          </a:xfrm>
          <a:prstGeom prst="rect">
            <a:avLst/>
          </a:prstGeom>
          <a:noFill/>
        </p:spPr>
        <p:txBody>
          <a:bodyPr wrap="square" lIns="0" tIns="0" rIns="0" bIns="0" rtlCol="0" anchor="t">
            <a:normAutofit/>
          </a:bodyPr>
          <a:lstStyle/>
          <a:p>
            <a:pPr marL="0" indent="0">
              <a:lnSpc>
                <a:spcPct val="100000"/>
              </a:lnSpc>
              <a:buNone/>
            </a:pPr>
            <a:r>
              <a:rPr lang="en-US" sz="1400" b="1" dirty="0">
                <a:solidFill>
                  <a:srgbClr val="000000"/>
                </a:solidFill>
                <a:latin typeface="Times New Roman" panose="02020603050405020304" charset="0"/>
                <a:ea typeface="Cambria" panose="02040503050406030204" pitchFamily="34" charset="-122"/>
                <a:cs typeface="Times New Roman" panose="02020603050405020304" charset="0"/>
              </a:rPr>
              <a:t>8.Return all the track names that have a song length longer than the average song length. Return the Name and Milliseconds for each track. Order by the song length, with the longest songs listed first.</a:t>
            </a:r>
            <a:endParaRPr lang="en-US" sz="1400" dirty="0">
              <a:latin typeface="Times New Roman" panose="02020603050405020304" charset="0"/>
              <a:cs typeface="Times New Roman" panose="02020603050405020304" charset="0"/>
            </a:endParaRPr>
          </a:p>
        </p:txBody>
      </p:sp>
      <p:sp>
        <p:nvSpPr>
          <p:cNvPr id="6" name="Text 4"/>
          <p:cNvSpPr/>
          <p:nvPr/>
        </p:nvSpPr>
        <p:spPr>
          <a:xfrm>
            <a:off x="5680075" y="992505"/>
            <a:ext cx="720725" cy="320040"/>
          </a:xfrm>
          <a:prstGeom prst="rect">
            <a:avLst/>
          </a:prstGeom>
          <a:noFill/>
        </p:spPr>
        <p:txBody>
          <a:bodyPr wrap="square" lIns="0" tIns="0" rIns="0" bIns="0" rtlCol="0" anchor="ctr"/>
          <a:lstStyle/>
          <a:p>
            <a:pPr marL="0" indent="0">
              <a:buNone/>
            </a:pPr>
            <a:r>
              <a:rPr lang="en-US" sz="1200" b="1" dirty="0">
                <a:solidFill>
                  <a:srgbClr val="000000"/>
                </a:solidFill>
                <a:latin typeface="Times New Roman" panose="02020603050405020304" charset="0"/>
                <a:ea typeface="Cambria" panose="02040503050406030204" pitchFamily="34" charset="-122"/>
                <a:cs typeface="Times New Roman" panose="02020603050405020304" charset="0"/>
              </a:rPr>
              <a:t>Output</a:t>
            </a:r>
            <a:r>
              <a:rPr lang="en-US" sz="1800" b="1" dirty="0">
                <a:solidFill>
                  <a:srgbClr val="000000"/>
                </a:solidFill>
                <a:latin typeface="Cambria" panose="02040503050406030204" pitchFamily="34" charset="0"/>
                <a:ea typeface="Cambria" panose="02040503050406030204" pitchFamily="34" charset="-122"/>
                <a:cs typeface="Cambria" panose="02040503050406030204" pitchFamily="34" charset="-120"/>
              </a:rPr>
              <a:t>:</a:t>
            </a:r>
            <a:endParaRPr lang="en-US" sz="1800" dirty="0"/>
          </a:p>
        </p:txBody>
      </p:sp>
      <p:sp>
        <p:nvSpPr>
          <p:cNvPr id="9" name="Text 7"/>
          <p:cNvSpPr/>
          <p:nvPr/>
        </p:nvSpPr>
        <p:spPr>
          <a:xfrm>
            <a:off x="640080" y="3383280"/>
            <a:ext cx="1300480" cy="365760"/>
          </a:xfrm>
          <a:prstGeom prst="rect">
            <a:avLst/>
          </a:prstGeom>
          <a:noFill/>
        </p:spPr>
        <p:txBody>
          <a:bodyPr wrap="square" lIns="0" tIns="0" rIns="0" bIns="0" rtlCol="0" anchor="ctr"/>
          <a:lstStyle/>
          <a:p>
            <a:pPr marL="0" indent="0">
              <a:buNone/>
            </a:pPr>
            <a:r>
              <a:rPr lang="en-US" sz="1800" b="1" dirty="0">
                <a:solidFill>
                  <a:srgbClr val="000000"/>
                </a:solidFill>
                <a:latin typeface="Times New Roman" panose="02020603050405020304" charset="0"/>
                <a:ea typeface="Cambria" panose="02040503050406030204" pitchFamily="34" charset="-122"/>
                <a:cs typeface="Times New Roman" panose="02020603050405020304" charset="0"/>
              </a:rPr>
              <a:t>Key Insight:</a:t>
            </a:r>
            <a:endParaRPr lang="en-US" sz="1800" dirty="0">
              <a:latin typeface="Times New Roman" panose="02020603050405020304" charset="0"/>
              <a:cs typeface="Times New Roman" panose="02020603050405020304" charset="0"/>
            </a:endParaRPr>
          </a:p>
        </p:txBody>
      </p:sp>
      <p:sp>
        <p:nvSpPr>
          <p:cNvPr id="10" name="Text 8"/>
          <p:cNvSpPr/>
          <p:nvPr/>
        </p:nvSpPr>
        <p:spPr>
          <a:xfrm>
            <a:off x="640080" y="3749040"/>
            <a:ext cx="8229600" cy="914400"/>
          </a:xfrm>
          <a:prstGeom prst="rect">
            <a:avLst/>
          </a:prstGeom>
          <a:noFill/>
        </p:spPr>
        <p:txBody>
          <a:bodyPr wrap="square" lIns="0" tIns="0" rIns="0" bIns="0" rtlCol="0" anchor="t"/>
          <a:lstStyle/>
          <a:p>
            <a:pPr marL="342900" indent="-342900">
              <a:buSzPct val="100000"/>
              <a:buChar char="•"/>
            </a:pPr>
            <a:r>
              <a:rPr lang="en-US" sz="1400" dirty="0">
                <a:solidFill>
                  <a:srgbClr val="000000"/>
                </a:solidFill>
                <a:latin typeface="Times New Roman" panose="02020603050405020304" charset="0"/>
                <a:ea typeface="Arial" panose="020B0604020202020204" pitchFamily="34" charset="-122"/>
                <a:cs typeface="Times New Roman" panose="02020603050405020304" charset="0"/>
              </a:rPr>
              <a:t>Tracks above the average duration are typically longer, more artistic compositions (e.g. progressive rock, classical, jazz). These are ideal for curated playlists, deep-listening recommendations, and identifying premium catalog content that commands higher engagement time.</a:t>
            </a:r>
            <a:endParaRPr lang="en-US" sz="1400" dirty="0">
              <a:latin typeface="Times New Roman" panose="02020603050405020304" charset="0"/>
              <a:cs typeface="Times New Roman" panose="02020603050405020304" charset="0"/>
            </a:endParaRPr>
          </a:p>
        </p:txBody>
      </p:sp>
      <p:sp>
        <p:nvSpPr>
          <p:cNvPr id="13" name="Text Box 12"/>
          <p:cNvSpPr txBox="1"/>
          <p:nvPr/>
        </p:nvSpPr>
        <p:spPr>
          <a:xfrm>
            <a:off x="5680075" y="2720975"/>
            <a:ext cx="3048000" cy="368300"/>
          </a:xfrm>
          <a:prstGeom prst="rect">
            <a:avLst/>
          </a:prstGeom>
          <a:noFill/>
        </p:spPr>
        <p:txBody>
          <a:bodyPr wrap="square" rtlCol="0">
            <a:spAutoFit/>
          </a:bodyPr>
          <a:p>
            <a:endParaRPr lang="en-US"/>
          </a:p>
        </p:txBody>
      </p:sp>
      <p:pic>
        <p:nvPicPr>
          <p:cNvPr id="14" name="Picture 13"/>
          <p:cNvPicPr>
            <a:picLocks noChangeAspect="1"/>
          </p:cNvPicPr>
          <p:nvPr/>
        </p:nvPicPr>
        <p:blipFill>
          <a:blip r:embed="rId1"/>
          <a:srcRect t="17632"/>
          <a:stretch>
            <a:fillRect/>
          </a:stretch>
        </p:blipFill>
        <p:spPr>
          <a:xfrm>
            <a:off x="5752465" y="1644015"/>
            <a:ext cx="2293620" cy="1192530"/>
          </a:xfrm>
          <a:prstGeom prst="rect">
            <a:avLst/>
          </a:prstGeom>
        </p:spPr>
      </p:pic>
      <p:pic>
        <p:nvPicPr>
          <p:cNvPr id="4" name="Image 0" descr="https://kimi-img.moonshot.cn/pub/slides/okc/6rq3slofmbe7g/mnt/agents/output/template_converted/images/image_1.png"/>
          <p:cNvPicPr>
            <a:picLocks noChangeAspect="1"/>
          </p:cNvPicPr>
          <p:nvPr/>
        </p:nvPicPr>
        <p:blipFill>
          <a:blip r:embed="rId2"/>
          <a:stretch>
            <a:fillRect/>
          </a:stretch>
        </p:blipFill>
        <p:spPr>
          <a:xfrm>
            <a:off x="6681803" y="4638723"/>
            <a:ext cx="2419017" cy="504777"/>
          </a:xfrm>
          <a:prstGeom prst="rect">
            <a:avLst/>
          </a:prstGeom>
        </p:spPr>
      </p:pic>
      <p:pic>
        <p:nvPicPr>
          <p:cNvPr id="5" name="Picture 4"/>
          <p:cNvPicPr>
            <a:picLocks noChangeAspect="1"/>
          </p:cNvPicPr>
          <p:nvPr/>
        </p:nvPicPr>
        <p:blipFill>
          <a:blip r:embed="rId3"/>
          <a:stretch>
            <a:fillRect/>
          </a:stretch>
        </p:blipFill>
        <p:spPr>
          <a:xfrm>
            <a:off x="553720" y="1213485"/>
            <a:ext cx="4617720" cy="164592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777240"/>
          </a:xfrm>
          <a:prstGeom prst="rect">
            <a:avLst/>
          </a:prstGeom>
          <a:noFill/>
        </p:spPr>
        <p:txBody>
          <a:bodyPr wrap="square" lIns="0" tIns="0" rIns="0" bIns="0" rtlCol="0" anchor="t">
            <a:normAutofit/>
          </a:bodyPr>
          <a:lstStyle/>
          <a:p>
            <a:pPr marL="0" indent="0">
              <a:buNone/>
            </a:pPr>
            <a:r>
              <a:rPr lang="en-US" sz="1400" b="1" dirty="0">
                <a:solidFill>
                  <a:srgbClr val="000000"/>
                </a:solidFill>
                <a:latin typeface="Times New Roman" panose="02020603050405020304" charset="0"/>
                <a:ea typeface="Cambria" panose="02040503050406030204" pitchFamily="34" charset="-122"/>
                <a:cs typeface="Times New Roman" panose="02020603050405020304" charset="0"/>
              </a:rPr>
              <a:t>9. Find how much amount is spent by each customer on artists. Write a query to return customer name, artist name and total spent.</a:t>
            </a:r>
            <a:endParaRPr lang="en-US" sz="1400" dirty="0">
              <a:latin typeface="Times New Roman" panose="02020603050405020304" charset="0"/>
              <a:cs typeface="Times New Roman" panose="02020603050405020304" charset="0"/>
            </a:endParaRPr>
          </a:p>
        </p:txBody>
      </p:sp>
      <p:sp>
        <p:nvSpPr>
          <p:cNvPr id="6" name="Text 4"/>
          <p:cNvSpPr/>
          <p:nvPr/>
        </p:nvSpPr>
        <p:spPr>
          <a:xfrm>
            <a:off x="4923790" y="861695"/>
            <a:ext cx="875030" cy="262890"/>
          </a:xfrm>
          <a:prstGeom prst="rect">
            <a:avLst/>
          </a:prstGeom>
          <a:noFill/>
        </p:spPr>
        <p:txBody>
          <a:bodyPr wrap="square" lIns="0" tIns="0" rIns="0" bIns="0" rtlCol="0" anchor="ctr"/>
          <a:lstStyle/>
          <a:p>
            <a:pPr marL="0" indent="0">
              <a:buNone/>
            </a:pPr>
            <a:r>
              <a:rPr lang="en-US" sz="1800" b="1" dirty="0">
                <a:solidFill>
                  <a:srgbClr val="000000"/>
                </a:solidFill>
                <a:latin typeface="Times New Roman" panose="02020603050405020304" charset="0"/>
                <a:ea typeface="Cambria" panose="02040503050406030204" pitchFamily="34" charset="-122"/>
                <a:cs typeface="Times New Roman" panose="02020603050405020304" charset="0"/>
              </a:rPr>
              <a:t>Output:</a:t>
            </a:r>
            <a:endParaRPr lang="en-US" sz="1800" dirty="0">
              <a:latin typeface="Times New Roman" panose="02020603050405020304" charset="0"/>
              <a:cs typeface="Times New Roman" panose="02020603050405020304" charset="0"/>
            </a:endParaRPr>
          </a:p>
        </p:txBody>
      </p:sp>
      <p:sp>
        <p:nvSpPr>
          <p:cNvPr id="9" name="Text 7"/>
          <p:cNvSpPr/>
          <p:nvPr/>
        </p:nvSpPr>
        <p:spPr>
          <a:xfrm>
            <a:off x="393700" y="3556000"/>
            <a:ext cx="1260475" cy="365760"/>
          </a:xfrm>
          <a:prstGeom prst="rect">
            <a:avLst/>
          </a:prstGeom>
          <a:noFill/>
        </p:spPr>
        <p:txBody>
          <a:bodyPr wrap="square" lIns="0" tIns="0" rIns="0" bIns="0" rtlCol="0" anchor="ctr"/>
          <a:lstStyle/>
          <a:p>
            <a:pPr marL="0" indent="0">
              <a:buNone/>
            </a:pPr>
            <a:r>
              <a:rPr lang="en-US" sz="1800" b="1" dirty="0">
                <a:solidFill>
                  <a:srgbClr val="000000"/>
                </a:solidFill>
                <a:latin typeface="Times New Roman" panose="02020603050405020304" charset="0"/>
                <a:ea typeface="Cambria" panose="02040503050406030204" pitchFamily="34" charset="-122"/>
                <a:cs typeface="Times New Roman" panose="02020603050405020304" charset="0"/>
              </a:rPr>
              <a:t>Key Insight:</a:t>
            </a:r>
            <a:endParaRPr lang="en-US" sz="1800" dirty="0">
              <a:latin typeface="Times New Roman" panose="02020603050405020304" charset="0"/>
              <a:cs typeface="Times New Roman" panose="02020603050405020304" charset="0"/>
            </a:endParaRPr>
          </a:p>
        </p:txBody>
      </p:sp>
      <p:sp>
        <p:nvSpPr>
          <p:cNvPr id="10" name="Text 8"/>
          <p:cNvSpPr/>
          <p:nvPr/>
        </p:nvSpPr>
        <p:spPr>
          <a:xfrm>
            <a:off x="568960" y="3921760"/>
            <a:ext cx="8229600" cy="626110"/>
          </a:xfrm>
          <a:prstGeom prst="rect">
            <a:avLst/>
          </a:prstGeom>
          <a:noFill/>
        </p:spPr>
        <p:txBody>
          <a:bodyPr wrap="square" lIns="0" tIns="0" rIns="0" bIns="0" rtlCol="0" anchor="t"/>
          <a:lstStyle/>
          <a:p>
            <a:pPr marL="342900" indent="-342900">
              <a:buSzPct val="100000"/>
              <a:buChar char="•"/>
            </a:pPr>
            <a:r>
              <a:rPr lang="en-US" sz="1400" dirty="0">
                <a:solidFill>
                  <a:srgbClr val="000000"/>
                </a:solidFill>
                <a:latin typeface="Times New Roman" panose="02020603050405020304" charset="0"/>
                <a:ea typeface="Arial" panose="020B0604020202020204" pitchFamily="34" charset="-122"/>
                <a:cs typeface="Times New Roman" panose="02020603050405020304" charset="0"/>
              </a:rPr>
              <a:t>This </a:t>
            </a:r>
            <a:r>
              <a:rPr lang="en-US" altLang="en-US" sz="1400" dirty="0">
                <a:solidFill>
                  <a:srgbClr val="000000"/>
                </a:solidFill>
                <a:latin typeface="Times New Roman" panose="02020603050405020304" charset="0"/>
                <a:ea typeface="Arial" panose="020B0604020202020204" pitchFamily="34" charset="-122"/>
                <a:cs typeface="Times New Roman" panose="02020603050405020304" charset="0"/>
              </a:rPr>
              <a:t>customer-artist spending analysis</a:t>
            </a:r>
            <a:r>
              <a:rPr lang="en-US" sz="1400" dirty="0">
                <a:solidFill>
                  <a:srgbClr val="000000"/>
                </a:solidFill>
                <a:latin typeface="Times New Roman" panose="02020603050405020304" charset="0"/>
                <a:ea typeface="Arial" panose="020B0604020202020204" pitchFamily="34" charset="-122"/>
                <a:cs typeface="Times New Roman" panose="02020603050405020304" charset="0"/>
              </a:rPr>
              <a:t> which artists generate the most revenue from each customer. It enables personalized recommendations, targeted promotions for under-discovered artists in a customer's library, and helps forecast demand for new releases by specific artists.</a:t>
            </a:r>
            <a:endParaRPr lang="en-US" sz="1400" dirty="0">
              <a:latin typeface="Times New Roman" panose="02020603050405020304" charset="0"/>
              <a:cs typeface="Times New Roman" panose="02020603050405020304" charset="0"/>
            </a:endParaRPr>
          </a:p>
        </p:txBody>
      </p:sp>
      <p:pic>
        <p:nvPicPr>
          <p:cNvPr id="13" name="Picture 12"/>
          <p:cNvPicPr>
            <a:picLocks noChangeAspect="1"/>
          </p:cNvPicPr>
          <p:nvPr/>
        </p:nvPicPr>
        <p:blipFill>
          <a:blip r:embed="rId1"/>
          <a:srcRect t="12606" r="4598"/>
          <a:stretch>
            <a:fillRect/>
          </a:stretch>
        </p:blipFill>
        <p:spPr>
          <a:xfrm>
            <a:off x="5003800" y="1259840"/>
            <a:ext cx="3794760" cy="1311910"/>
          </a:xfrm>
          <a:prstGeom prst="rect">
            <a:avLst/>
          </a:prstGeom>
        </p:spPr>
      </p:pic>
      <p:pic>
        <p:nvPicPr>
          <p:cNvPr id="5" name="Image 0" descr="https://kimi-img.moonshot.cn/pub/slides/okc/6rq3slofmbe7g/mnt/agents/output/template_converted/images/image_1.png"/>
          <p:cNvPicPr>
            <a:picLocks noChangeAspect="1"/>
          </p:cNvPicPr>
          <p:nvPr/>
        </p:nvPicPr>
        <p:blipFill>
          <a:blip r:embed="rId2"/>
          <a:stretch>
            <a:fillRect/>
          </a:stretch>
        </p:blipFill>
        <p:spPr>
          <a:xfrm>
            <a:off x="6681803" y="4638723"/>
            <a:ext cx="2419017" cy="504777"/>
          </a:xfrm>
          <a:prstGeom prst="rect">
            <a:avLst/>
          </a:prstGeom>
        </p:spPr>
      </p:pic>
      <p:pic>
        <p:nvPicPr>
          <p:cNvPr id="7" name="Picture 6"/>
          <p:cNvPicPr>
            <a:picLocks noChangeAspect="1"/>
          </p:cNvPicPr>
          <p:nvPr/>
        </p:nvPicPr>
        <p:blipFill>
          <a:blip r:embed="rId3"/>
          <a:stretch>
            <a:fillRect/>
          </a:stretch>
        </p:blipFill>
        <p:spPr>
          <a:xfrm>
            <a:off x="393700" y="861695"/>
            <a:ext cx="4530090" cy="259905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74040"/>
          </a:xfrm>
          <a:prstGeom prst="rect">
            <a:avLst/>
          </a:prstGeom>
          <a:noFill/>
        </p:spPr>
        <p:txBody>
          <a:bodyPr wrap="square" lIns="0" tIns="0" rIns="0" bIns="0" rtlCol="0" anchor="t">
            <a:normAutofit lnSpcReduction="20000"/>
          </a:bodyPr>
          <a:lstStyle/>
          <a:p>
            <a:pPr marL="0" indent="0" algn="just">
              <a:buNone/>
            </a:pPr>
            <a:r>
              <a:rPr lang="en-US" sz="1400" b="1" dirty="0">
                <a:solidFill>
                  <a:srgbClr val="000000"/>
                </a:solidFill>
                <a:latin typeface="Times New Roman" panose="02020603050405020304" charset="0"/>
                <a:ea typeface="Cambria" panose="02040503050406030204" pitchFamily="34" charset="-122"/>
                <a:cs typeface="Times New Roman" panose="02020603050405020304" charset="0"/>
              </a:rPr>
              <a:t>10. We want to find out the most popular music Genre for each country. We determine the most popular genre as the genre with the highest amount of purchases. Write a query that returns each country along with the top Genre. For countries where the maximum number of purchases is shared, return all Genres.</a:t>
            </a:r>
            <a:endParaRPr lang="en-US" sz="1400" b="1" dirty="0">
              <a:solidFill>
                <a:srgbClr val="000000"/>
              </a:solidFill>
              <a:latin typeface="Times New Roman" panose="02020603050405020304" charset="0"/>
              <a:ea typeface="Cambria" panose="02040503050406030204" pitchFamily="34" charset="-122"/>
              <a:cs typeface="Times New Roman" panose="02020603050405020304" charset="0"/>
            </a:endParaRPr>
          </a:p>
          <a:p>
            <a:pPr marL="0" indent="0" algn="just">
              <a:buNone/>
            </a:pPr>
            <a:endParaRPr lang="en-US" sz="1400" dirty="0">
              <a:latin typeface="Times New Roman" panose="02020603050405020304" charset="0"/>
              <a:cs typeface="Times New Roman" panose="02020603050405020304" charset="0"/>
            </a:endParaRPr>
          </a:p>
          <a:p>
            <a:pPr marL="0" indent="0" algn="just">
              <a:buNone/>
            </a:pPr>
            <a:endParaRPr lang="en-US" sz="1400" dirty="0">
              <a:latin typeface="Times New Roman" panose="02020603050405020304" charset="0"/>
              <a:cs typeface="Times New Roman" panose="02020603050405020304" charset="0"/>
            </a:endParaRPr>
          </a:p>
        </p:txBody>
      </p:sp>
      <p:sp>
        <p:nvSpPr>
          <p:cNvPr id="6" name="Text 4"/>
          <p:cNvSpPr/>
          <p:nvPr/>
        </p:nvSpPr>
        <p:spPr>
          <a:xfrm>
            <a:off x="5810250" y="1168400"/>
            <a:ext cx="833120" cy="320040"/>
          </a:xfrm>
          <a:prstGeom prst="rect">
            <a:avLst/>
          </a:prstGeom>
          <a:noFill/>
        </p:spPr>
        <p:txBody>
          <a:bodyPr wrap="square" lIns="0" tIns="0" rIns="0" bIns="0" rtlCol="0" anchor="ctr"/>
          <a:lstStyle/>
          <a:p>
            <a:pPr marL="0" indent="0">
              <a:buNone/>
            </a:pPr>
            <a:r>
              <a:rPr lang="en-US" sz="1800" b="1" dirty="0">
                <a:solidFill>
                  <a:srgbClr val="000000"/>
                </a:solidFill>
                <a:latin typeface="Times New Roman" panose="02020603050405020304" charset="0"/>
                <a:ea typeface="Cambria" panose="02040503050406030204" pitchFamily="34" charset="-122"/>
                <a:cs typeface="Times New Roman" panose="02020603050405020304" charset="0"/>
              </a:rPr>
              <a:t>Output:</a:t>
            </a:r>
            <a:endParaRPr lang="en-US" sz="1800" dirty="0">
              <a:latin typeface="Times New Roman" panose="02020603050405020304" charset="0"/>
              <a:cs typeface="Times New Roman" panose="02020603050405020304" charset="0"/>
            </a:endParaRPr>
          </a:p>
        </p:txBody>
      </p:sp>
      <p:sp>
        <p:nvSpPr>
          <p:cNvPr id="9" name="Text 7"/>
          <p:cNvSpPr/>
          <p:nvPr/>
        </p:nvSpPr>
        <p:spPr>
          <a:xfrm>
            <a:off x="457200" y="3749675"/>
            <a:ext cx="1361440" cy="360680"/>
          </a:xfrm>
          <a:prstGeom prst="rect">
            <a:avLst/>
          </a:prstGeom>
          <a:noFill/>
        </p:spPr>
        <p:txBody>
          <a:bodyPr wrap="square" lIns="0" tIns="0" rIns="0" bIns="0" rtlCol="0" anchor="ctr"/>
          <a:lstStyle/>
          <a:p>
            <a:pPr marL="0" indent="0">
              <a:buNone/>
            </a:pPr>
            <a:r>
              <a:rPr lang="en-US" sz="1800" b="1" dirty="0">
                <a:solidFill>
                  <a:srgbClr val="000000"/>
                </a:solidFill>
                <a:latin typeface="Times New Roman" panose="02020603050405020304" charset="0"/>
                <a:ea typeface="Cambria" panose="02040503050406030204" pitchFamily="34" charset="-122"/>
                <a:cs typeface="Times New Roman" panose="02020603050405020304" charset="0"/>
              </a:rPr>
              <a:t>Key Insight:</a:t>
            </a:r>
            <a:endParaRPr lang="en-US" sz="1800" dirty="0">
              <a:latin typeface="Times New Roman" panose="02020603050405020304" charset="0"/>
              <a:cs typeface="Times New Roman" panose="02020603050405020304" charset="0"/>
            </a:endParaRPr>
          </a:p>
        </p:txBody>
      </p:sp>
      <p:sp>
        <p:nvSpPr>
          <p:cNvPr id="10" name="Text 8"/>
          <p:cNvSpPr/>
          <p:nvPr/>
        </p:nvSpPr>
        <p:spPr>
          <a:xfrm>
            <a:off x="457200" y="4084320"/>
            <a:ext cx="8213725" cy="706120"/>
          </a:xfrm>
          <a:prstGeom prst="rect">
            <a:avLst/>
          </a:prstGeom>
          <a:noFill/>
        </p:spPr>
        <p:txBody>
          <a:bodyPr wrap="square" lIns="0" tIns="0" rIns="0" bIns="0" rtlCol="0" anchor="t"/>
          <a:lstStyle/>
          <a:p>
            <a:pPr marL="342900" indent="-342900" algn="just">
              <a:buSzPct val="100000"/>
              <a:buChar char="•"/>
            </a:pPr>
            <a:r>
              <a:rPr lang="en-US" sz="1400" dirty="0">
                <a:solidFill>
                  <a:srgbClr val="000000"/>
                </a:solidFill>
                <a:latin typeface="Times New Roman" panose="02020603050405020304" charset="0"/>
                <a:ea typeface="Arial" panose="020B0604020202020204" pitchFamily="34" charset="-122"/>
                <a:cs typeface="Times New Roman" panose="02020603050405020304" charset="0"/>
              </a:rPr>
              <a:t>Genre preference varies significantly by country. Identifying the top genre per market enables localized inventory planning, region-specific marketing campaigns, and licensing decisions aligned with local listening behavior.</a:t>
            </a:r>
            <a:endParaRPr lang="en-US" sz="1400" dirty="0">
              <a:latin typeface="Times New Roman" panose="02020603050405020304" charset="0"/>
              <a:cs typeface="Times New Roman" panose="02020603050405020304" charset="0"/>
            </a:endParaRPr>
          </a:p>
        </p:txBody>
      </p:sp>
      <p:pic>
        <p:nvPicPr>
          <p:cNvPr id="14" name="Picture 13"/>
          <p:cNvPicPr>
            <a:picLocks noChangeAspect="1"/>
          </p:cNvPicPr>
          <p:nvPr/>
        </p:nvPicPr>
        <p:blipFill>
          <a:blip r:embed="rId1"/>
          <a:srcRect t="17472" r="2438"/>
          <a:stretch>
            <a:fillRect/>
          </a:stretch>
        </p:blipFill>
        <p:spPr>
          <a:xfrm>
            <a:off x="5810250" y="1488440"/>
            <a:ext cx="2795270" cy="1301750"/>
          </a:xfrm>
          <a:prstGeom prst="rect">
            <a:avLst/>
          </a:prstGeom>
        </p:spPr>
      </p:pic>
      <p:pic>
        <p:nvPicPr>
          <p:cNvPr id="4" name="Image 0" descr="https://kimi-img.moonshot.cn/pub/slides/okc/6rq3slofmbe7g/mnt/agents/output/template_converted/images/image_1.png"/>
          <p:cNvPicPr>
            <a:picLocks noChangeAspect="1"/>
          </p:cNvPicPr>
          <p:nvPr/>
        </p:nvPicPr>
        <p:blipFill>
          <a:blip r:embed="rId2"/>
          <a:stretch>
            <a:fillRect/>
          </a:stretch>
        </p:blipFill>
        <p:spPr>
          <a:xfrm>
            <a:off x="6681803" y="4638723"/>
            <a:ext cx="2419017" cy="504777"/>
          </a:xfrm>
          <a:prstGeom prst="rect">
            <a:avLst/>
          </a:prstGeom>
        </p:spPr>
      </p:pic>
      <p:pic>
        <p:nvPicPr>
          <p:cNvPr id="5" name="Picture 4"/>
          <p:cNvPicPr>
            <a:picLocks noChangeAspect="1"/>
          </p:cNvPicPr>
          <p:nvPr/>
        </p:nvPicPr>
        <p:blipFill>
          <a:blip r:embed="rId3"/>
          <a:srcRect t="27564" r="29059"/>
          <a:stretch>
            <a:fillRect/>
          </a:stretch>
        </p:blipFill>
        <p:spPr>
          <a:xfrm>
            <a:off x="365760" y="964565"/>
            <a:ext cx="4684395" cy="266890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777240"/>
          </a:xfrm>
          <a:prstGeom prst="rect">
            <a:avLst/>
          </a:prstGeom>
          <a:noFill/>
        </p:spPr>
        <p:txBody>
          <a:bodyPr wrap="square" lIns="0" tIns="0" rIns="0" bIns="0" rtlCol="0" anchor="t">
            <a:noAutofit/>
          </a:bodyPr>
          <a:lstStyle/>
          <a:p>
            <a:pPr marL="0" indent="0" algn="just">
              <a:buNone/>
            </a:pPr>
            <a:r>
              <a:rPr lang="en-US" sz="1500" b="1" dirty="0">
                <a:solidFill>
                  <a:srgbClr val="000000"/>
                </a:solidFill>
                <a:latin typeface="Times New Roman" panose="02020603050405020304" charset="0"/>
                <a:ea typeface="Cambria" panose="02040503050406030204" pitchFamily="34" charset="-122"/>
                <a:cs typeface="Times New Roman" panose="02020603050405020304" charset="0"/>
              </a:rPr>
              <a:t>11.Write a query that determines the customer that has spent the most on music for each country. Write a query that returns the country along with the top customer and </a:t>
            </a:r>
            <a:r>
              <a:rPr lang="en-US" sz="1400" b="1" dirty="0">
                <a:solidFill>
                  <a:srgbClr val="000000"/>
                </a:solidFill>
                <a:latin typeface="Times New Roman" panose="02020603050405020304" charset="0"/>
                <a:ea typeface="Cambria" panose="02040503050406030204" pitchFamily="34" charset="-122"/>
                <a:cs typeface="Times New Roman" panose="02020603050405020304" charset="0"/>
              </a:rPr>
              <a:t>how </a:t>
            </a:r>
            <a:r>
              <a:rPr lang="en-US" sz="1500" b="1" dirty="0">
                <a:solidFill>
                  <a:srgbClr val="000000"/>
                </a:solidFill>
                <a:latin typeface="Times New Roman" panose="02020603050405020304" charset="0"/>
                <a:ea typeface="Cambria" panose="02040503050406030204" pitchFamily="34" charset="-122"/>
                <a:cs typeface="Times New Roman" panose="02020603050405020304" charset="0"/>
              </a:rPr>
              <a:t>much they spent. For countries where the top amount spent is shared, provide all customers who spent this amount.</a:t>
            </a:r>
            <a:endParaRPr lang="en-US" sz="1500" b="1" dirty="0">
              <a:solidFill>
                <a:srgbClr val="000000"/>
              </a:solidFill>
              <a:latin typeface="Times New Roman" panose="02020603050405020304" charset="0"/>
              <a:ea typeface="Cambria" panose="02040503050406030204" pitchFamily="34" charset="-122"/>
              <a:cs typeface="Times New Roman" panose="02020603050405020304" charset="0"/>
            </a:endParaRPr>
          </a:p>
        </p:txBody>
      </p:sp>
      <p:sp>
        <p:nvSpPr>
          <p:cNvPr id="6" name="Text 4"/>
          <p:cNvSpPr/>
          <p:nvPr/>
        </p:nvSpPr>
        <p:spPr>
          <a:xfrm>
            <a:off x="5798820" y="1641475"/>
            <a:ext cx="952500" cy="290195"/>
          </a:xfrm>
          <a:prstGeom prst="rect">
            <a:avLst/>
          </a:prstGeom>
          <a:noFill/>
        </p:spPr>
        <p:txBody>
          <a:bodyPr wrap="square" lIns="0" tIns="0" rIns="0" bIns="0" rtlCol="0" anchor="ctr"/>
          <a:lstStyle/>
          <a:p>
            <a:pPr marL="0" indent="0">
              <a:buNone/>
            </a:pPr>
            <a:r>
              <a:rPr lang="en-US" sz="1800" b="1" dirty="0">
                <a:solidFill>
                  <a:srgbClr val="000000"/>
                </a:solidFill>
                <a:latin typeface="Times New Roman" panose="02020603050405020304" charset="0"/>
                <a:ea typeface="Cambria" panose="02040503050406030204" pitchFamily="34" charset="-122"/>
                <a:cs typeface="Times New Roman" panose="02020603050405020304" charset="0"/>
              </a:rPr>
              <a:t>Output:</a:t>
            </a:r>
            <a:endParaRPr lang="en-US" sz="1800" dirty="0">
              <a:latin typeface="Times New Roman" panose="02020603050405020304" charset="0"/>
              <a:cs typeface="Times New Roman" panose="02020603050405020304" charset="0"/>
            </a:endParaRPr>
          </a:p>
        </p:txBody>
      </p:sp>
      <p:sp>
        <p:nvSpPr>
          <p:cNvPr id="9" name="Text 7"/>
          <p:cNvSpPr/>
          <p:nvPr/>
        </p:nvSpPr>
        <p:spPr>
          <a:xfrm>
            <a:off x="281305" y="3907155"/>
            <a:ext cx="1249680" cy="290195"/>
          </a:xfrm>
          <a:prstGeom prst="rect">
            <a:avLst/>
          </a:prstGeom>
          <a:noFill/>
        </p:spPr>
        <p:txBody>
          <a:bodyPr wrap="square" lIns="0" tIns="0" rIns="0" bIns="0" rtlCol="0" anchor="ctr"/>
          <a:lstStyle/>
          <a:p>
            <a:pPr marL="0" indent="0">
              <a:buNone/>
            </a:pPr>
            <a:r>
              <a:rPr lang="en-US" sz="1800" b="1" dirty="0">
                <a:solidFill>
                  <a:srgbClr val="000000"/>
                </a:solidFill>
                <a:latin typeface="Times New Roman" panose="02020603050405020304" charset="0"/>
                <a:ea typeface="Cambria" panose="02040503050406030204" pitchFamily="34" charset="-122"/>
                <a:cs typeface="Times New Roman" panose="02020603050405020304" charset="0"/>
              </a:rPr>
              <a:t>Key Insight:</a:t>
            </a:r>
            <a:endParaRPr lang="en-US" sz="1800" dirty="0">
              <a:latin typeface="Times New Roman" panose="02020603050405020304" charset="0"/>
              <a:cs typeface="Times New Roman" panose="02020603050405020304" charset="0"/>
            </a:endParaRPr>
          </a:p>
        </p:txBody>
      </p:sp>
      <p:sp>
        <p:nvSpPr>
          <p:cNvPr id="10" name="Text 8"/>
          <p:cNvSpPr/>
          <p:nvPr/>
        </p:nvSpPr>
        <p:spPr>
          <a:xfrm>
            <a:off x="599440" y="4197350"/>
            <a:ext cx="8229600" cy="914400"/>
          </a:xfrm>
          <a:prstGeom prst="rect">
            <a:avLst/>
          </a:prstGeom>
          <a:noFill/>
        </p:spPr>
        <p:txBody>
          <a:bodyPr wrap="square" lIns="0" tIns="0" rIns="0" bIns="0" rtlCol="0" anchor="t"/>
          <a:lstStyle/>
          <a:p>
            <a:pPr marL="342900" indent="-342900">
              <a:buSzPct val="100000"/>
              <a:buChar char="•"/>
            </a:pPr>
            <a:r>
              <a:rPr lang="en-US" sz="1400" dirty="0">
                <a:solidFill>
                  <a:srgbClr val="000000"/>
                </a:solidFill>
                <a:latin typeface="Times New Roman" panose="02020603050405020304" charset="0"/>
                <a:ea typeface="Arial" panose="020B0604020202020204" pitchFamily="34" charset="-122"/>
                <a:cs typeface="Times New Roman" panose="02020603050405020304" charset="0"/>
              </a:rPr>
              <a:t>Top customers by country are anchors for territory-specific loyalty programs, regional VIP clubs, and localized referral campaigns. Identifying them allows targeted retention strategies and stronger commercial presence in each market.</a:t>
            </a:r>
            <a:endParaRPr lang="en-US" sz="1400" dirty="0">
              <a:latin typeface="Times New Roman" panose="02020603050405020304" charset="0"/>
              <a:cs typeface="Times New Roman" panose="02020603050405020304" charset="0"/>
            </a:endParaRPr>
          </a:p>
        </p:txBody>
      </p:sp>
      <p:pic>
        <p:nvPicPr>
          <p:cNvPr id="13" name="Picture 12"/>
          <p:cNvPicPr>
            <a:picLocks noChangeAspect="1"/>
          </p:cNvPicPr>
          <p:nvPr/>
        </p:nvPicPr>
        <p:blipFill>
          <a:blip r:embed="rId1"/>
          <a:srcRect t="20000"/>
          <a:stretch>
            <a:fillRect/>
          </a:stretch>
        </p:blipFill>
        <p:spPr>
          <a:xfrm>
            <a:off x="5789930" y="1931670"/>
            <a:ext cx="3139440" cy="1280160"/>
          </a:xfrm>
          <a:prstGeom prst="rect">
            <a:avLst/>
          </a:prstGeom>
        </p:spPr>
      </p:pic>
      <p:pic>
        <p:nvPicPr>
          <p:cNvPr id="4" name="Image 0" descr="https://kimi-img.moonshot.cn/pub/slides/okc/6rq3slofmbe7g/mnt/agents/output/template_converted/images/image_1.png"/>
          <p:cNvPicPr>
            <a:picLocks noChangeAspect="1"/>
          </p:cNvPicPr>
          <p:nvPr/>
        </p:nvPicPr>
        <p:blipFill>
          <a:blip r:embed="rId2"/>
          <a:stretch>
            <a:fillRect/>
          </a:stretch>
        </p:blipFill>
        <p:spPr>
          <a:xfrm>
            <a:off x="6681803" y="4638723"/>
            <a:ext cx="2419017" cy="504777"/>
          </a:xfrm>
          <a:prstGeom prst="rect">
            <a:avLst/>
          </a:prstGeom>
        </p:spPr>
      </p:pic>
      <p:pic>
        <p:nvPicPr>
          <p:cNvPr id="5" name="Picture 4"/>
          <p:cNvPicPr>
            <a:picLocks noChangeAspect="1"/>
          </p:cNvPicPr>
          <p:nvPr/>
        </p:nvPicPr>
        <p:blipFill>
          <a:blip r:embed="rId3"/>
          <a:stretch>
            <a:fillRect/>
          </a:stretch>
        </p:blipFill>
        <p:spPr>
          <a:xfrm>
            <a:off x="457200" y="1130300"/>
            <a:ext cx="4701540" cy="253746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2703195" cy="640080"/>
          </a:xfrm>
          <a:prstGeom prst="rect">
            <a:avLst/>
          </a:prstGeom>
          <a:noFill/>
        </p:spPr>
        <p:txBody>
          <a:bodyPr wrap="square" lIns="0" tIns="0" rIns="0" bIns="0" rtlCol="0" anchor="ctr"/>
          <a:lstStyle/>
          <a:p>
            <a:pPr marL="0" indent="0">
              <a:buNone/>
            </a:pPr>
            <a:r>
              <a:rPr lang="en-US" sz="4000" b="1" dirty="0">
                <a:solidFill>
                  <a:srgbClr val="000000"/>
                </a:solidFill>
                <a:latin typeface="Times New Roman" panose="02020603050405020304" charset="0"/>
                <a:ea typeface="Cambria" panose="02040503050406030204" pitchFamily="34" charset="-122"/>
                <a:cs typeface="Times New Roman" panose="02020603050405020304" charset="0"/>
              </a:rPr>
              <a:t>Conclusion:</a:t>
            </a:r>
            <a:endParaRPr lang="en-US" sz="4000" dirty="0">
              <a:latin typeface="Times New Roman" panose="02020603050405020304" charset="0"/>
              <a:cs typeface="Times New Roman" panose="02020603050405020304" charset="0"/>
            </a:endParaRPr>
          </a:p>
        </p:txBody>
      </p:sp>
      <p:sp>
        <p:nvSpPr>
          <p:cNvPr id="3" name="Text 1"/>
          <p:cNvSpPr/>
          <p:nvPr/>
        </p:nvSpPr>
        <p:spPr>
          <a:xfrm>
            <a:off x="640080" y="1188720"/>
            <a:ext cx="7955280" cy="1931035"/>
          </a:xfrm>
          <a:prstGeom prst="rect">
            <a:avLst/>
          </a:prstGeom>
          <a:noFill/>
        </p:spPr>
        <p:txBody>
          <a:bodyPr wrap="square" lIns="0" tIns="0" rIns="0" bIns="0" rtlCol="0" anchor="t"/>
          <a:lstStyle/>
          <a:p>
            <a:pPr marL="342900" indent="-342900">
              <a:spcAft>
                <a:spcPts val="1200"/>
              </a:spcAft>
              <a:buSzPct val="100000"/>
              <a:buChar char="•"/>
            </a:pPr>
            <a:r>
              <a:rPr lang="en-US" sz="1600" dirty="0">
                <a:solidFill>
                  <a:srgbClr val="000000"/>
                </a:solidFill>
                <a:latin typeface="Times New Roman" panose="02020603050405020304" charset="0"/>
                <a:ea typeface="Arial" panose="020B0604020202020204" pitchFamily="34" charset="-122"/>
                <a:cs typeface="Times New Roman" panose="02020603050405020304" charset="0"/>
              </a:rPr>
              <a:t>This project successfully analyzed the music store database using SQL to generate meaningful business insights related to customer behavior, revenue trends, genre preferences, and country-level </a:t>
            </a:r>
            <a:r>
              <a:rPr lang="en-US" sz="1600" dirty="0">
                <a:solidFill>
                  <a:srgbClr val="000000"/>
                </a:solidFill>
                <a:latin typeface="Times New Roman" panose="02020603050405020304" charset="0"/>
                <a:ea typeface="Arial" panose="020B0604020202020204" pitchFamily="34" charset="-122"/>
                <a:cs typeface="Times New Roman" panose="02020603050405020304" charset="0"/>
              </a:rPr>
              <a:t>spending patterns.</a:t>
            </a:r>
            <a:endParaRPr lang="en-US" sz="1600" dirty="0">
              <a:latin typeface="Times New Roman" panose="02020603050405020304" charset="0"/>
              <a:cs typeface="Times New Roman" panose="02020603050405020304" charset="0"/>
            </a:endParaRPr>
          </a:p>
          <a:p>
            <a:pPr marL="342900" indent="-342900">
              <a:spcAft>
                <a:spcPts val="1200"/>
              </a:spcAft>
              <a:buSzPct val="100000"/>
              <a:buChar char="•"/>
            </a:pPr>
            <a:r>
              <a:rPr lang="en-US" sz="1600" dirty="0">
                <a:solidFill>
                  <a:srgbClr val="000000"/>
                </a:solidFill>
                <a:latin typeface="Times New Roman" panose="02020603050405020304" charset="0"/>
                <a:ea typeface="Arial" panose="020B0604020202020204" pitchFamily="34" charset="-122"/>
                <a:cs typeface="Times New Roman" panose="02020603050405020304" charset="0"/>
              </a:rPr>
              <a:t>Through data extraction, multi-table joins, aggregations, CTEs, and window functions, the project demonstrated how SQL transforms raw transactional data into actionable information that supports marketing analytics, business intelligence, and data-driven decision-making.</a:t>
            </a:r>
            <a:endParaRPr lang="en-US" sz="1600" dirty="0">
              <a:latin typeface="Times New Roman" panose="02020603050405020304" charset="0"/>
              <a:cs typeface="Times New Roman" panose="02020603050405020304" charset="0"/>
            </a:endParaRPr>
          </a:p>
        </p:txBody>
      </p:sp>
      <p:pic>
        <p:nvPicPr>
          <p:cNvPr id="5" name="Image 0" descr="https://kimi-img.moonshot.cn/pub/slides/okc/6rq3slofmbe7g/mnt/agents/output/template_converted/images/image_1.png"/>
          <p:cNvPicPr>
            <a:picLocks noChangeAspect="1"/>
          </p:cNvPicPr>
          <p:nvPr/>
        </p:nvPicPr>
        <p:blipFill>
          <a:blip r:embed="rId1"/>
          <a:stretch>
            <a:fillRect/>
          </a:stretch>
        </p:blipFill>
        <p:spPr>
          <a:xfrm>
            <a:off x="6672913" y="4638723"/>
            <a:ext cx="2419017" cy="50477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03555" y="931545"/>
            <a:ext cx="7942580" cy="2107565"/>
          </a:xfrm>
          <a:prstGeom prst="rect">
            <a:avLst/>
          </a:prstGeom>
        </p:spPr>
        <p:txBody>
          <a:bodyPr wrap="square">
            <a:noAutofit/>
          </a:bodyPr>
          <a:p>
            <a:pPr marL="0" indent="0">
              <a:lnSpc>
                <a:spcPts val="1560"/>
              </a:lnSpc>
              <a:spcBef>
                <a:spcPts val="900"/>
              </a:spcBef>
              <a:spcAft>
                <a:spcPct val="0"/>
              </a:spcAft>
              <a:buFont typeface="Arial" panose="020B0604020202020204"/>
              <a:buChar char="•"/>
            </a:pPr>
            <a:r>
              <a:rPr lang="en-US" altLang="zh-CN" sz="1500" b="0" i="0">
                <a:solidFill>
                  <a:schemeClr val="tx1"/>
                </a:solidFill>
                <a:latin typeface="Times New Roman" panose="02020603050405020304" charset="0"/>
                <a:ea typeface="ui-sans-serif"/>
                <a:cs typeface="Times New Roman" panose="02020603050405020304" charset="0"/>
              </a:rPr>
              <a:t>Integrate a real-time analytics dashboard (Power BI / Tableau / Looker) on top of the SQL database to visualize sales, customer, and genre trends interactively.</a:t>
            </a:r>
            <a:endParaRPr lang="en-US" altLang="zh-CN" sz="1500" b="0" i="0">
              <a:solidFill>
                <a:schemeClr val="tx1"/>
              </a:solidFill>
              <a:latin typeface="Times New Roman" panose="02020603050405020304" charset="0"/>
              <a:ea typeface="ui-sans-serif"/>
              <a:cs typeface="Times New Roman" panose="02020603050405020304" charset="0"/>
            </a:endParaRPr>
          </a:p>
          <a:p>
            <a:pPr marL="0" indent="0">
              <a:lnSpc>
                <a:spcPts val="1560"/>
              </a:lnSpc>
              <a:spcBef>
                <a:spcPts val="900"/>
              </a:spcBef>
              <a:spcAft>
                <a:spcPct val="0"/>
              </a:spcAft>
              <a:buFont typeface="Arial" panose="020B0604020202020204"/>
              <a:buChar char="•"/>
            </a:pPr>
            <a:r>
              <a:rPr lang="en-US" altLang="zh-CN" sz="1500" b="0" i="0">
                <a:solidFill>
                  <a:schemeClr val="tx1"/>
                </a:solidFill>
                <a:latin typeface="Times New Roman" panose="02020603050405020304" charset="0"/>
                <a:ea typeface="ui-sans-serif"/>
                <a:cs typeface="Times New Roman" panose="02020603050405020304" charset="0"/>
              </a:rPr>
              <a:t>Apply machine learning models for customer churn prediction, lifetime value forecasting, and personalized music recommendations.</a:t>
            </a:r>
            <a:endParaRPr lang="en-US" altLang="zh-CN" sz="1500" b="0" i="0">
              <a:solidFill>
                <a:schemeClr val="tx1"/>
              </a:solidFill>
              <a:latin typeface="Times New Roman" panose="02020603050405020304" charset="0"/>
              <a:ea typeface="ui-sans-serif"/>
              <a:cs typeface="Times New Roman" panose="02020603050405020304" charset="0"/>
            </a:endParaRPr>
          </a:p>
          <a:p>
            <a:pPr marL="0" indent="0">
              <a:lnSpc>
                <a:spcPts val="1560"/>
              </a:lnSpc>
              <a:spcBef>
                <a:spcPts val="900"/>
              </a:spcBef>
              <a:spcAft>
                <a:spcPct val="0"/>
              </a:spcAft>
              <a:buFont typeface="Arial" panose="020B0604020202020204"/>
              <a:buChar char="•"/>
            </a:pPr>
            <a:r>
              <a:rPr lang="en-US" altLang="zh-CN" sz="1500" b="0" i="0">
                <a:solidFill>
                  <a:schemeClr val="tx1"/>
                </a:solidFill>
                <a:latin typeface="Times New Roman" panose="02020603050405020304" charset="0"/>
                <a:ea typeface="ui-sans-serif"/>
                <a:cs typeface="Times New Roman" panose="02020603050405020304" charset="0"/>
              </a:rPr>
              <a:t>Build a customer segmentation model (e.g. RFM analysis) to enable tiered loyalty programs and targeted marketing campaigns.</a:t>
            </a:r>
            <a:endParaRPr lang="en-US" altLang="zh-CN" sz="1500" b="0" i="0">
              <a:solidFill>
                <a:schemeClr val="tx1"/>
              </a:solidFill>
              <a:latin typeface="Times New Roman" panose="02020603050405020304" charset="0"/>
              <a:ea typeface="ui-sans-serif"/>
              <a:cs typeface="Times New Roman" panose="02020603050405020304" charset="0"/>
            </a:endParaRPr>
          </a:p>
          <a:p>
            <a:pPr marL="0" indent="0">
              <a:lnSpc>
                <a:spcPts val="1560"/>
              </a:lnSpc>
              <a:spcBef>
                <a:spcPts val="900"/>
              </a:spcBef>
              <a:spcAft>
                <a:spcPct val="0"/>
              </a:spcAft>
              <a:buFont typeface="Arial" panose="020B0604020202020204"/>
              <a:buChar char="•"/>
            </a:pPr>
            <a:r>
              <a:rPr lang="en-US" altLang="zh-CN" sz="1500" b="0" i="0">
                <a:solidFill>
                  <a:schemeClr val="tx1"/>
                </a:solidFill>
                <a:latin typeface="Times New Roman" panose="02020603050405020304" charset="0"/>
                <a:ea typeface="ui-sans-serif"/>
                <a:cs typeface="Times New Roman" panose="02020603050405020304" charset="0"/>
              </a:rPr>
              <a:t>Add geographic visualizations (heat maps, choropleths) to compare revenue, genre preference, and customer density across countries and cities.</a:t>
            </a:r>
            <a:endParaRPr lang="en-US" altLang="zh-CN" sz="1500" b="0" i="0">
              <a:solidFill>
                <a:schemeClr val="tx1"/>
              </a:solidFill>
              <a:latin typeface="Times New Roman" panose="02020603050405020304" charset="0"/>
              <a:ea typeface="ui-sans-serif"/>
              <a:cs typeface="Times New Roman" panose="02020603050405020304" charset="0"/>
            </a:endParaRPr>
          </a:p>
          <a:p>
            <a:pPr marL="1371600" lvl="3" indent="0">
              <a:lnSpc>
                <a:spcPts val="1560"/>
              </a:lnSpc>
              <a:spcBef>
                <a:spcPts val="900"/>
              </a:spcBef>
              <a:spcAft>
                <a:spcPct val="0"/>
              </a:spcAft>
              <a:buFont typeface="Arial" panose="020B0604020202020204"/>
              <a:buChar char="•"/>
            </a:pPr>
            <a:endParaRPr lang="en-US" altLang="zh-CN" sz="1500" b="0" i="0">
              <a:solidFill>
                <a:schemeClr val="tx1"/>
              </a:solidFill>
              <a:latin typeface="Times New Roman" panose="02020603050405020304" charset="0"/>
              <a:ea typeface="ui-sans-serif"/>
              <a:cs typeface="Times New Roman" panose="02020603050405020304" charset="0"/>
            </a:endParaRPr>
          </a:p>
        </p:txBody>
      </p:sp>
      <p:sp>
        <p:nvSpPr>
          <p:cNvPr id="3" name="Text Box 2"/>
          <p:cNvSpPr txBox="1"/>
          <p:nvPr/>
        </p:nvSpPr>
        <p:spPr>
          <a:xfrm>
            <a:off x="310515" y="280670"/>
            <a:ext cx="5386070" cy="467995"/>
          </a:xfrm>
          <a:prstGeom prst="rect">
            <a:avLst/>
          </a:prstGeom>
          <a:noFill/>
        </p:spPr>
        <p:txBody>
          <a:bodyPr wrap="square" rtlCol="0">
            <a:noAutofit/>
          </a:bodyPr>
          <a:p>
            <a:r>
              <a:rPr lang="en-US" altLang="zh-CN" sz="4000" b="1">
                <a:latin typeface="Times New Roman" panose="02020603050405020304" charset="0"/>
                <a:ea typeface="ui-sans-serif"/>
                <a:cs typeface="Times New Roman" panose="02020603050405020304" charset="0"/>
                <a:sym typeface="+mn-ea"/>
              </a:rPr>
              <a:t>Future Enhancements:</a:t>
            </a:r>
            <a:endParaRPr lang="en-US" altLang="zh-CN" sz="4000" b="1" i="0">
              <a:solidFill>
                <a:schemeClr val="tx1"/>
              </a:solidFill>
              <a:latin typeface="Times New Roman" panose="02020603050405020304" charset="0"/>
              <a:ea typeface="ui-sans-serif"/>
              <a:cs typeface="Times New Roman" panose="02020603050405020304" charset="0"/>
            </a:endParaRPr>
          </a:p>
          <a:p>
            <a:endParaRPr lang="en-US" sz="4000"/>
          </a:p>
        </p:txBody>
      </p:sp>
      <p:pic>
        <p:nvPicPr>
          <p:cNvPr id="5" name="Image 0" descr="https://kimi-img.moonshot.cn/pub/slides/okc/6rq3slofmbe7g/mnt/agents/output/template_converted/images/image_1.png"/>
          <p:cNvPicPr>
            <a:picLocks noChangeAspect="1"/>
          </p:cNvPicPr>
          <p:nvPr/>
        </p:nvPicPr>
        <p:blipFill>
          <a:blip r:embed="rId1"/>
          <a:stretch>
            <a:fillRect/>
          </a:stretch>
        </p:blipFill>
        <p:spPr>
          <a:xfrm>
            <a:off x="6672913" y="4638723"/>
            <a:ext cx="2419017" cy="504777"/>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p:spPr>
        <p:txBody>
          <a:bodyPr wrap="square" lIns="0" tIns="0" rIns="0" bIns="0" rtlCol="0" anchor="ctr"/>
          <a:lstStyle/>
          <a:p>
            <a:pPr marL="0" indent="0">
              <a:buNone/>
            </a:pPr>
            <a:r>
              <a:rPr lang="en-US" sz="4000" b="1" dirty="0">
                <a:solidFill>
                  <a:srgbClr val="000000"/>
                </a:solidFill>
                <a:latin typeface="Cambria" panose="02040503050406030204" pitchFamily="34" charset="0"/>
                <a:ea typeface="Cambria" panose="02040503050406030204" pitchFamily="34" charset="-122"/>
                <a:cs typeface="Cambria" panose="02040503050406030204" pitchFamily="34" charset="-120"/>
              </a:rPr>
              <a:t>Challenges:</a:t>
            </a:r>
            <a:endParaRPr lang="en-US" sz="4000" dirty="0"/>
          </a:p>
        </p:txBody>
      </p:sp>
      <p:sp>
        <p:nvSpPr>
          <p:cNvPr id="3" name="Text 1"/>
          <p:cNvSpPr/>
          <p:nvPr/>
        </p:nvSpPr>
        <p:spPr>
          <a:xfrm>
            <a:off x="640080" y="1097280"/>
            <a:ext cx="7955280" cy="3566160"/>
          </a:xfrm>
          <a:prstGeom prst="rect">
            <a:avLst/>
          </a:prstGeom>
          <a:noFill/>
        </p:spPr>
        <p:txBody>
          <a:bodyPr wrap="square" lIns="0" tIns="0" rIns="0" bIns="0" rtlCol="0" anchor="t"/>
          <a:lstStyle/>
          <a:p>
            <a:pPr marL="342900" indent="-342900">
              <a:spcAft>
                <a:spcPts val="400"/>
              </a:spcAft>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Designing a relational schema with proper primary and foreign key relationships across 11 tables.</a:t>
            </a:r>
            <a:endParaRPr lang="en-US" sz="1400" dirty="0"/>
          </a:p>
          <a:p>
            <a:pPr marL="342900" indent="-342900">
              <a:spcAft>
                <a:spcPts val="400"/>
              </a:spcAft>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Importing large CSV files (track.csv, invoice_line.csv, playlist_track.csv) without errors.</a:t>
            </a:r>
            <a:endParaRPr lang="en-US" sz="1400" dirty="0"/>
          </a:p>
          <a:p>
            <a:pPr marL="342900" indent="-342900">
              <a:spcAft>
                <a:spcPts val="400"/>
              </a:spcAft>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Ensuring data consistency and applying CASCADE constraints for foreign keys.</a:t>
            </a:r>
            <a:endParaRPr lang="en-US" sz="1400" dirty="0"/>
          </a:p>
          <a:p>
            <a:pPr marL="342900" indent="-342900">
              <a:spcAft>
                <a:spcPts val="400"/>
              </a:spcAft>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Writing complex multi-table JOINs to combine customer, invoice, track, and artist data.</a:t>
            </a:r>
            <a:endParaRPr lang="en-US" sz="1400" dirty="0"/>
          </a:p>
          <a:p>
            <a:pPr marL="342900" indent="-342900">
              <a:spcAft>
                <a:spcPts val="400"/>
              </a:spcAft>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Using window functions (RANK OVER PARTITION BY) for country-level genre and customer rankings.</a:t>
            </a:r>
            <a:endParaRPr lang="en-US" sz="1400" dirty="0"/>
          </a:p>
          <a:p>
            <a:pPr marL="342900" indent="-342900">
              <a:spcAft>
                <a:spcPts val="400"/>
              </a:spcAft>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Handling duplicate or tied values in ranking queries -- returning all customers with shared max spend.</a:t>
            </a:r>
            <a:endParaRPr lang="en-US" sz="1400" dirty="0"/>
          </a:p>
          <a:p>
            <a:pPr marL="342900" indent="-342900">
              <a:spcAft>
                <a:spcPts val="400"/>
              </a:spcAft>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Translating real-world business questions into efficient SQL logic.</a:t>
            </a:r>
            <a:endParaRPr lang="en-US" sz="1400" dirty="0"/>
          </a:p>
          <a:p>
            <a:pPr marL="342900" indent="-342900">
              <a:spcAft>
                <a:spcPts val="400"/>
              </a:spcAft>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Optimizing queries for large datasets to keep report generation fast.</a:t>
            </a:r>
            <a:endParaRPr lang="en-US" sz="1400" dirty="0"/>
          </a:p>
        </p:txBody>
      </p:sp>
      <p:pic>
        <p:nvPicPr>
          <p:cNvPr id="5" name="Image 0" descr="https://kimi-img.moonshot.cn/pub/slides/okc/6rq3slofmbe7g/mnt/agents/output/template_converted/images/image_1.png"/>
          <p:cNvPicPr>
            <a:picLocks noChangeAspect="1"/>
          </p:cNvPicPr>
          <p:nvPr/>
        </p:nvPicPr>
        <p:blipFill>
          <a:blip r:embed="rId1"/>
          <a:stretch>
            <a:fillRect/>
          </a:stretch>
        </p:blipFill>
        <p:spPr>
          <a:xfrm>
            <a:off x="6664023" y="4638723"/>
            <a:ext cx="2419017" cy="504777"/>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okc/6rq3slofmbe7g/mnt/agents/output/template_converted/images/image_1.png"/>
          <p:cNvPicPr>
            <a:picLocks noChangeAspect="1"/>
          </p:cNvPicPr>
          <p:nvPr/>
        </p:nvPicPr>
        <p:blipFill>
          <a:blip r:embed="rId1"/>
          <a:stretch>
            <a:fillRect/>
          </a:stretch>
        </p:blipFill>
        <p:spPr>
          <a:xfrm>
            <a:off x="6610683" y="4638723"/>
            <a:ext cx="2419017" cy="504777"/>
          </a:xfrm>
          <a:prstGeom prst="rect">
            <a:avLst/>
          </a:prstGeom>
        </p:spPr>
      </p:pic>
      <p:sp>
        <p:nvSpPr>
          <p:cNvPr id="3" name="Shape 0"/>
          <p:cNvSpPr/>
          <p:nvPr/>
        </p:nvSpPr>
        <p:spPr>
          <a:xfrm>
            <a:off x="628650" y="273820"/>
            <a:ext cx="7886700" cy="994196"/>
          </a:xfrm>
          <a:prstGeom prst="rect">
            <a:avLst/>
          </a:prstGeom>
          <a:noFill/>
        </p:spPr>
        <p:txBody>
          <a:bodyPr/>
          <a:lstStyle/>
          <a:p>
            <a:endParaRPr lang="en-IN" sz="1015"/>
          </a:p>
        </p:txBody>
      </p:sp>
      <p:pic>
        <p:nvPicPr>
          <p:cNvPr id="6" name="Picture 5"/>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452199" y="759381"/>
            <a:ext cx="8063151" cy="3857625"/>
          </a:xfrm>
          <a:prstGeom prst="rect">
            <a:avLst/>
          </a:prstGeom>
          <a:effectLst>
            <a:innerShdw blurRad="63500" dist="50800" dir="13500000">
              <a:prstClr val="black">
                <a:alpha val="50000"/>
              </a:prstClr>
            </a:innerShdw>
          </a:effectLst>
        </p:spPr>
      </p:pic>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737360"/>
            <a:ext cx="8229600" cy="1097280"/>
          </a:xfrm>
          <a:prstGeom prst="rect">
            <a:avLst/>
          </a:prstGeom>
          <a:noFill/>
        </p:spPr>
        <p:txBody>
          <a:bodyPr wrap="square" lIns="0" tIns="0" rIns="0" bIns="0" rtlCol="0" anchor="ctr"/>
          <a:lstStyle/>
          <a:p>
            <a:pPr marL="0" indent="0" algn="ctr">
              <a:buNone/>
            </a:pPr>
            <a:r>
              <a:rPr lang="en-US" sz="7200" b="1" kern="0" spc="400" dirty="0">
                <a:solidFill>
                  <a:srgbClr val="000000"/>
                </a:solidFill>
                <a:latin typeface="Cambria" panose="02040503050406030204" pitchFamily="34" charset="0"/>
                <a:ea typeface="Cambria" panose="02040503050406030204" pitchFamily="34" charset="-122"/>
                <a:cs typeface="Cambria" panose="02040503050406030204" pitchFamily="34" charset="-120"/>
              </a:rPr>
              <a:t>THANK YOU</a:t>
            </a:r>
            <a:endParaRPr lang="en-US" sz="7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8701</Words>
  <Application>WPS Presentation</Application>
  <PresentationFormat>On-screen Show (16:9)</PresentationFormat>
  <Paragraphs>178</Paragraphs>
  <Slides>32</Slides>
  <Notes>21</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32</vt:i4>
      </vt:variant>
    </vt:vector>
  </HeadingPairs>
  <TitlesOfParts>
    <vt:vector size="51" baseType="lpstr">
      <vt:lpstr>Arial</vt:lpstr>
      <vt:lpstr>SimSun</vt:lpstr>
      <vt:lpstr>Wingdings</vt:lpstr>
      <vt:lpstr>Times New Roman</vt:lpstr>
      <vt:lpstr>Cambria</vt:lpstr>
      <vt:lpstr>思源宋体</vt:lpstr>
      <vt:lpstr>system-ui</vt:lpstr>
      <vt:lpstr>Lato Black</vt:lpstr>
      <vt:lpstr>Arial</vt:lpstr>
      <vt:lpstr>Microsoft YaHei</vt:lpstr>
      <vt:lpstr>Arial Unicode MS</vt:lpstr>
      <vt:lpstr>Calibri</vt:lpstr>
      <vt:lpstr>Cambria</vt:lpstr>
      <vt:lpstr>Cambria</vt:lpstr>
      <vt:lpstr>Arial</vt:lpstr>
      <vt:lpstr>Arial</vt:lpstr>
      <vt:lpstr>ui-sans-serif</vt:lpstr>
      <vt:lpstr>Segoe Print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SQL Project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Music Store Data Analysis</dc:title>
  <dc:creator>Naini Vivekanand &amp; Kalva Ratnakar Reddy</dc:creator>
  <dc:subject>PptxGenJS Presentation</dc:subject>
  <cp:lastModifiedBy>Grim Reality</cp:lastModifiedBy>
  <cp:revision>12</cp:revision>
  <dcterms:created xsi:type="dcterms:W3CDTF">2026-09-28T21:26:00Z</dcterms:created>
  <dcterms:modified xsi:type="dcterms:W3CDTF">2026-10-03T09:34:37Z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7ADF2331060147718F6A593742235037_12</vt:lpwstr>
  </property>
</Properties>
</file>